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微软雅黑" panose="020B0503020204020204" pitchFamily="34" charset="-122"/>
      <p:regular r:id="rId13"/>
      <p:bold r:id="rId14"/>
    </p:embeddedFont>
    <p:embeddedFont>
      <p:font typeface="MiSans" panose="020B0604020202020204" charset="-122"/>
      <p:regular r:id="rId15"/>
    </p:embeddedFont>
    <p:embeddedFont>
      <p:font typeface="Noto Sans SC" panose="020B0604020202020204" charset="-128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27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e953abfc67d889b976948148b1927c6314b6660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2290" r="229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3">
                  <a:alpha val="80000"/>
                </a:srgbClr>
              </a:gs>
              <a:gs pos="50000">
                <a:srgbClr val="1F2933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85755" y="1713606"/>
            <a:ext cx="7296150" cy="2009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800" b="1" kern="0" spc="-120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 a High-Accuracy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4800" b="1" kern="0" spc="-120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Survival Prediction System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4800" b="1" kern="0" spc="-120" dirty="0">
                <a:solidFill>
                  <a:srgbClr val="00B0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Using Machine Learning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85755" y="3953769"/>
            <a:ext cx="7096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kern="0" spc="41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Raw Data to Reliable Predictions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755" y="5600745"/>
            <a:ext cx="19716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Khushi Choudhary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755" y="5895997"/>
            <a:ext cx="1957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Roll No: 23f3002872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755" y="6110310"/>
            <a:ext cx="19573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BS Data Science – IIT Madras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201488" y="571511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1363369" y="5905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21444" y="0"/>
                </a:moveTo>
                <a:cubicBezTo>
                  <a:pt x="109612" y="0"/>
                  <a:pt x="100013" y="9599"/>
                  <a:pt x="100013" y="21431"/>
                </a:cubicBezTo>
                <a:lnTo>
                  <a:pt x="100013" y="28575"/>
                </a:lnTo>
                <a:lnTo>
                  <a:pt x="92869" y="28575"/>
                </a:lnTo>
                <a:cubicBezTo>
                  <a:pt x="73134" y="28575"/>
                  <a:pt x="57150" y="44559"/>
                  <a:pt x="57150" y="64294"/>
                </a:cubicBezTo>
                <a:lnTo>
                  <a:pt x="57150" y="112871"/>
                </a:lnTo>
                <a:lnTo>
                  <a:pt x="47506" y="116711"/>
                </a:lnTo>
                <a:cubicBezTo>
                  <a:pt x="40898" y="119345"/>
                  <a:pt x="37460" y="126712"/>
                  <a:pt x="39737" y="133454"/>
                </a:cubicBezTo>
                <a:cubicBezTo>
                  <a:pt x="44381" y="147429"/>
                  <a:pt x="51703" y="159931"/>
                  <a:pt x="61034" y="170557"/>
                </a:cubicBezTo>
                <a:cubicBezTo>
                  <a:pt x="70009" y="166449"/>
                  <a:pt x="79653" y="164351"/>
                  <a:pt x="89297" y="164306"/>
                </a:cubicBezTo>
                <a:cubicBezTo>
                  <a:pt x="104076" y="164217"/>
                  <a:pt x="118899" y="168860"/>
                  <a:pt x="131445" y="178326"/>
                </a:cubicBezTo>
                <a:lnTo>
                  <a:pt x="132159" y="178862"/>
                </a:lnTo>
                <a:lnTo>
                  <a:pt x="132159" y="82867"/>
                </a:lnTo>
                <a:lnTo>
                  <a:pt x="85725" y="101441"/>
                </a:lnTo>
                <a:lnTo>
                  <a:pt x="85725" y="64294"/>
                </a:lnTo>
                <a:cubicBezTo>
                  <a:pt x="85725" y="60365"/>
                  <a:pt x="88940" y="57150"/>
                  <a:pt x="92869" y="57150"/>
                </a:cubicBezTo>
                <a:lnTo>
                  <a:pt x="192881" y="57150"/>
                </a:lnTo>
                <a:cubicBezTo>
                  <a:pt x="196810" y="57150"/>
                  <a:pt x="200025" y="60365"/>
                  <a:pt x="200025" y="64294"/>
                </a:cubicBezTo>
                <a:lnTo>
                  <a:pt x="200025" y="101441"/>
                </a:lnTo>
                <a:lnTo>
                  <a:pt x="153591" y="82867"/>
                </a:lnTo>
                <a:lnTo>
                  <a:pt x="153591" y="178862"/>
                </a:lnTo>
                <a:lnTo>
                  <a:pt x="154305" y="178326"/>
                </a:lnTo>
                <a:cubicBezTo>
                  <a:pt x="166583" y="169084"/>
                  <a:pt x="181049" y="164396"/>
                  <a:pt x="195560" y="164306"/>
                </a:cubicBezTo>
                <a:cubicBezTo>
                  <a:pt x="205517" y="164262"/>
                  <a:pt x="215473" y="166315"/>
                  <a:pt x="224716" y="170557"/>
                </a:cubicBezTo>
                <a:cubicBezTo>
                  <a:pt x="234047" y="159975"/>
                  <a:pt x="241369" y="147429"/>
                  <a:pt x="246013" y="133454"/>
                </a:cubicBezTo>
                <a:cubicBezTo>
                  <a:pt x="248245" y="126668"/>
                  <a:pt x="244852" y="119345"/>
                  <a:pt x="238244" y="116711"/>
                </a:cubicBezTo>
                <a:lnTo>
                  <a:pt x="228600" y="112871"/>
                </a:lnTo>
                <a:lnTo>
                  <a:pt x="228600" y="64294"/>
                </a:lnTo>
                <a:cubicBezTo>
                  <a:pt x="228600" y="44559"/>
                  <a:pt x="212616" y="28575"/>
                  <a:pt x="192881" y="28575"/>
                </a:cubicBezTo>
                <a:lnTo>
                  <a:pt x="185738" y="28575"/>
                </a:lnTo>
                <a:lnTo>
                  <a:pt x="185738" y="21431"/>
                </a:lnTo>
                <a:cubicBezTo>
                  <a:pt x="185738" y="9599"/>
                  <a:pt x="176138" y="0"/>
                  <a:pt x="164306" y="0"/>
                </a:cubicBezTo>
                <a:lnTo>
                  <a:pt x="121444" y="0"/>
                </a:lnTo>
                <a:close/>
                <a:moveTo>
                  <a:pt x="180112" y="212571"/>
                </a:moveTo>
                <a:cubicBezTo>
                  <a:pt x="189622" y="205383"/>
                  <a:pt x="202391" y="205383"/>
                  <a:pt x="211901" y="212571"/>
                </a:cubicBezTo>
                <a:cubicBezTo>
                  <a:pt x="220385" y="219001"/>
                  <a:pt x="230609" y="225162"/>
                  <a:pt x="241905" y="227439"/>
                </a:cubicBezTo>
                <a:cubicBezTo>
                  <a:pt x="253737" y="229850"/>
                  <a:pt x="266149" y="227796"/>
                  <a:pt x="277937" y="218911"/>
                </a:cubicBezTo>
                <a:cubicBezTo>
                  <a:pt x="282669" y="215339"/>
                  <a:pt x="283607" y="208642"/>
                  <a:pt x="280035" y="203909"/>
                </a:cubicBezTo>
                <a:cubicBezTo>
                  <a:pt x="276463" y="199177"/>
                  <a:pt x="269766" y="198239"/>
                  <a:pt x="265033" y="201811"/>
                </a:cubicBezTo>
                <a:cubicBezTo>
                  <a:pt x="258381" y="206812"/>
                  <a:pt x="252264" y="207660"/>
                  <a:pt x="246147" y="206410"/>
                </a:cubicBezTo>
                <a:cubicBezTo>
                  <a:pt x="239494" y="205070"/>
                  <a:pt x="232350" y="201097"/>
                  <a:pt x="224805" y="195426"/>
                </a:cubicBezTo>
                <a:cubicBezTo>
                  <a:pt x="207660" y="182478"/>
                  <a:pt x="184398" y="182478"/>
                  <a:pt x="167208" y="195426"/>
                </a:cubicBezTo>
                <a:cubicBezTo>
                  <a:pt x="156493" y="203508"/>
                  <a:pt x="149036" y="207169"/>
                  <a:pt x="142875" y="207169"/>
                </a:cubicBezTo>
                <a:cubicBezTo>
                  <a:pt x="136714" y="207169"/>
                  <a:pt x="129257" y="203508"/>
                  <a:pt x="118542" y="195426"/>
                </a:cubicBezTo>
                <a:cubicBezTo>
                  <a:pt x="101397" y="182478"/>
                  <a:pt x="78135" y="182478"/>
                  <a:pt x="60945" y="195426"/>
                </a:cubicBezTo>
                <a:cubicBezTo>
                  <a:pt x="51301" y="202704"/>
                  <a:pt x="42505" y="206946"/>
                  <a:pt x="34647" y="206901"/>
                </a:cubicBezTo>
                <a:cubicBezTo>
                  <a:pt x="30361" y="206856"/>
                  <a:pt x="25762" y="205561"/>
                  <a:pt x="20717" y="201766"/>
                </a:cubicBezTo>
                <a:cubicBezTo>
                  <a:pt x="15984" y="198194"/>
                  <a:pt x="9287" y="199132"/>
                  <a:pt x="5715" y="203865"/>
                </a:cubicBezTo>
                <a:cubicBezTo>
                  <a:pt x="2143" y="208597"/>
                  <a:pt x="3125" y="215339"/>
                  <a:pt x="7858" y="218911"/>
                </a:cubicBezTo>
                <a:cubicBezTo>
                  <a:pt x="16386" y="225341"/>
                  <a:pt x="25450" y="228287"/>
                  <a:pt x="34558" y="228332"/>
                </a:cubicBezTo>
                <a:cubicBezTo>
                  <a:pt x="49694" y="228421"/>
                  <a:pt x="63267" y="220563"/>
                  <a:pt x="73893" y="212571"/>
                </a:cubicBezTo>
                <a:cubicBezTo>
                  <a:pt x="83403" y="205383"/>
                  <a:pt x="96173" y="205383"/>
                  <a:pt x="105683" y="212571"/>
                </a:cubicBezTo>
                <a:cubicBezTo>
                  <a:pt x="116488" y="220742"/>
                  <a:pt x="129034" y="228600"/>
                  <a:pt x="142920" y="228600"/>
                </a:cubicBezTo>
                <a:cubicBezTo>
                  <a:pt x="156805" y="228600"/>
                  <a:pt x="169307" y="220697"/>
                  <a:pt x="180156" y="212571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1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 / Motivation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2938"/>
            <a:ext cx="11639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This Topic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71568"/>
            <a:ext cx="19050" cy="1895475"/>
          </a:xfrm>
          <a:custGeom>
            <a:avLst/>
            <a:gdLst/>
            <a:ahLst/>
            <a:cxnLst/>
            <a:rect l="l" t="t" r="r" b="b"/>
            <a:pathLst>
              <a:path w="19050" h="1895475">
                <a:moveTo>
                  <a:pt x="0" y="0"/>
                </a:moveTo>
                <a:lnTo>
                  <a:pt x="19050" y="0"/>
                </a:lnTo>
                <a:lnTo>
                  <a:pt x="19050" y="1895475"/>
                </a:lnTo>
                <a:lnTo>
                  <a:pt x="0" y="1895475"/>
                </a:lnTo>
                <a:lnTo>
                  <a:pt x="0" y="0"/>
                </a:lnTo>
                <a:close/>
              </a:path>
            </a:pathLst>
          </a:custGeom>
          <a:solidFill>
            <a:srgbClr val="1F293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511" y="1471568"/>
            <a:ext cx="360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563EB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11" y="2271690"/>
            <a:ext cx="3476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Real-world Complexity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11" y="2624070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problems are messy and complex, requiring rigorous methodology and systematic problem-solving approaches.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2510" y="1471568"/>
            <a:ext cx="19050" cy="1895475"/>
          </a:xfrm>
          <a:custGeom>
            <a:avLst/>
            <a:gdLst/>
            <a:ahLst/>
            <a:cxnLst/>
            <a:rect l="l" t="t" r="r" b="b"/>
            <a:pathLst>
              <a:path w="19050" h="1895475">
                <a:moveTo>
                  <a:pt x="0" y="0"/>
                </a:moveTo>
                <a:lnTo>
                  <a:pt x="19050" y="0"/>
                </a:lnTo>
                <a:lnTo>
                  <a:pt x="19050" y="1895475"/>
                </a:lnTo>
                <a:lnTo>
                  <a:pt x="0" y="1895475"/>
                </a:lnTo>
                <a:lnTo>
                  <a:pt x="0" y="0"/>
                </a:lnTo>
                <a:close/>
              </a:path>
            </a:pathLst>
          </a:custGeom>
          <a:solidFill>
            <a:srgbClr val="1F293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21021" y="1471568"/>
            <a:ext cx="360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563EB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1021" y="2271690"/>
            <a:ext cx="3476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1021" y="2624070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Demands preprocessing, feature engineering &amp; evaluation discipline throughout the entire workflow.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04132" y="1471568"/>
            <a:ext cx="19050" cy="1895475"/>
          </a:xfrm>
          <a:custGeom>
            <a:avLst/>
            <a:gdLst/>
            <a:ahLst/>
            <a:cxnLst/>
            <a:rect l="l" t="t" r="r" b="b"/>
            <a:pathLst>
              <a:path w="19050" h="1895475">
                <a:moveTo>
                  <a:pt x="0" y="0"/>
                </a:moveTo>
                <a:lnTo>
                  <a:pt x="19050" y="0"/>
                </a:lnTo>
                <a:lnTo>
                  <a:pt x="19050" y="1895475"/>
                </a:lnTo>
                <a:lnTo>
                  <a:pt x="0" y="1895475"/>
                </a:lnTo>
                <a:lnTo>
                  <a:pt x="0" y="0"/>
                </a:lnTo>
                <a:close/>
              </a:path>
            </a:pathLst>
          </a:custGeom>
          <a:solidFill>
            <a:srgbClr val="1F293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32643" y="1471568"/>
            <a:ext cx="360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563EB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2643" y="2271690"/>
            <a:ext cx="3476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Industry Simulation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2643" y="2624070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Simulates industry-style data science workflow with production-grade considerations.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986427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5755" y="550314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016" y="563640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371399" y="5291183"/>
            <a:ext cx="101965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Objective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399" y="5553119"/>
            <a:ext cx="102298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Predict whether a passenger survived based on historical voyage data, using features like </a:t>
            </a:r>
            <a:r>
              <a:rPr lang="en-US" sz="15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</a:t>
            </a:r>
            <a:r>
              <a:rPr lang="en-US" sz="1500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15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gender</a:t>
            </a:r>
            <a:r>
              <a:rPr lang="en-US" sz="1500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15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ticket class</a:t>
            </a:r>
            <a:r>
              <a:rPr lang="en-US" sz="1500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15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fare</a:t>
            </a:r>
            <a:r>
              <a:rPr lang="en-US" sz="1500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related characteristics.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1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 / Problem Definition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2938"/>
            <a:ext cx="11639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Problem Setup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95323"/>
            <a:ext cx="3619500" cy="3038475"/>
          </a:xfrm>
          <a:custGeom>
            <a:avLst/>
            <a:gdLst/>
            <a:ahLst/>
            <a:cxnLst/>
            <a:rect l="l" t="t" r="r" b="b"/>
            <a:pathLst>
              <a:path w="3619500" h="3038475">
                <a:moveTo>
                  <a:pt x="76205" y="0"/>
                </a:moveTo>
                <a:lnTo>
                  <a:pt x="3543295" y="0"/>
                </a:lnTo>
                <a:cubicBezTo>
                  <a:pt x="3585382" y="0"/>
                  <a:pt x="3619500" y="34118"/>
                  <a:pt x="3619500" y="76205"/>
                </a:cubicBezTo>
                <a:lnTo>
                  <a:pt x="3619500" y="2962270"/>
                </a:lnTo>
                <a:cubicBezTo>
                  <a:pt x="3619500" y="3004357"/>
                  <a:pt x="3585382" y="3038475"/>
                  <a:pt x="3543295" y="3038475"/>
                </a:cubicBezTo>
                <a:lnTo>
                  <a:pt x="76205" y="3038475"/>
                </a:lnTo>
                <a:cubicBezTo>
                  <a:pt x="34118" y="3038475"/>
                  <a:pt x="0" y="3004357"/>
                  <a:pt x="0" y="29622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11" y="16238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1848" y="172858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2888" y="1623833"/>
            <a:ext cx="1295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 Task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2888" y="1919086"/>
            <a:ext cx="1276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11" y="227146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766E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21865" y="2328594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521" y="2309589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Survived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11" y="269047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A3A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21865" y="2747604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8521" y="272860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Deceased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511" y="3147610"/>
            <a:ext cx="32289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Based on passenger characteristics and voyage details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577" y="4628234"/>
            <a:ext cx="3607605" cy="1845480"/>
          </a:xfrm>
          <a:custGeom>
            <a:avLst/>
            <a:gdLst/>
            <a:ahLst/>
            <a:cxnLst/>
            <a:rect l="l" t="t" r="r" b="b"/>
            <a:pathLst>
              <a:path w="3607605" h="1845480">
                <a:moveTo>
                  <a:pt x="76200" y="0"/>
                </a:moveTo>
                <a:lnTo>
                  <a:pt x="3531405" y="0"/>
                </a:lnTo>
                <a:cubicBezTo>
                  <a:pt x="3573489" y="0"/>
                  <a:pt x="3607605" y="34116"/>
                  <a:pt x="3607605" y="76200"/>
                </a:cubicBezTo>
                <a:lnTo>
                  <a:pt x="3607605" y="1769280"/>
                </a:lnTo>
                <a:cubicBezTo>
                  <a:pt x="3607605" y="1811364"/>
                  <a:pt x="3573489" y="1845480"/>
                  <a:pt x="3531405" y="1845480"/>
                </a:cubicBezTo>
                <a:lnTo>
                  <a:pt x="76200" y="1845480"/>
                </a:lnTo>
                <a:cubicBezTo>
                  <a:pt x="34116" y="1845480"/>
                  <a:pt x="0" y="1811364"/>
                  <a:pt x="0" y="176928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8655" y="4822311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8655" y="527933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50038" y="5203198"/>
            <a:ext cx="17526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 data in critical fields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8655" y="557693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0037" y="5500798"/>
            <a:ext cx="2578699" cy="199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cardinality in categorical features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8655" y="587453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50038" y="5798398"/>
            <a:ext cx="25786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of overfitting on limited samples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8655" y="61721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0038" y="6095999"/>
            <a:ext cx="1590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Potential for data leakage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08832" y="1398900"/>
            <a:ext cx="7503330" cy="5074455"/>
          </a:xfrm>
          <a:custGeom>
            <a:avLst/>
            <a:gdLst/>
            <a:ahLst/>
            <a:cxnLst/>
            <a:rect l="l" t="t" r="r" b="b"/>
            <a:pathLst>
              <a:path w="7503330" h="5074455">
                <a:moveTo>
                  <a:pt x="76218" y="0"/>
                </a:moveTo>
                <a:lnTo>
                  <a:pt x="7427112" y="0"/>
                </a:lnTo>
                <a:cubicBezTo>
                  <a:pt x="7469206" y="0"/>
                  <a:pt x="7503330" y="34124"/>
                  <a:pt x="7503330" y="76218"/>
                </a:cubicBezTo>
                <a:lnTo>
                  <a:pt x="7503330" y="4998237"/>
                </a:lnTo>
                <a:cubicBezTo>
                  <a:pt x="7503330" y="5040331"/>
                  <a:pt x="7469206" y="5074455"/>
                  <a:pt x="7427112" y="5074455"/>
                </a:cubicBezTo>
                <a:lnTo>
                  <a:pt x="76218" y="5074455"/>
                </a:lnTo>
                <a:cubicBezTo>
                  <a:pt x="34124" y="5074455"/>
                  <a:pt x="0" y="5040331"/>
                  <a:pt x="0" y="4998237"/>
                </a:cubicBezTo>
                <a:lnTo>
                  <a:pt x="0" y="76218"/>
                </a:lnTo>
                <a:cubicBezTo>
                  <a:pt x="0" y="34124"/>
                  <a:pt x="34124" y="0"/>
                  <a:pt x="76218" y="0"/>
                </a:cubicBezTo>
                <a:close/>
              </a:path>
            </a:pathLst>
          </a:custGeom>
          <a:solidFill>
            <a:srgbClr val="FFFFFF"/>
          </a:solidFill>
          <a:ln w="95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40921" y="1630989"/>
            <a:ext cx="7134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Available Features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28029" y="2157882"/>
            <a:ext cx="45719" cy="1168259"/>
          </a:xfrm>
          <a:custGeom>
            <a:avLst/>
            <a:gdLst/>
            <a:ahLst/>
            <a:cxnLst/>
            <a:rect l="l" t="t" r="r" b="b"/>
            <a:pathLst>
              <a:path w="14310" h="1076325">
                <a:moveTo>
                  <a:pt x="0" y="0"/>
                </a:moveTo>
                <a:lnTo>
                  <a:pt x="14310" y="0"/>
                </a:lnTo>
                <a:lnTo>
                  <a:pt x="1431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07608" y="2107239"/>
            <a:ext cx="2147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07608" y="2435806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Gender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07608" y="2711941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92810" y="3083864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 (extracted)</a:t>
            </a: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PassengerID &amp; Name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43635" y="2107239"/>
            <a:ext cx="14310" cy="1076325"/>
          </a:xfrm>
          <a:custGeom>
            <a:avLst/>
            <a:gdLst/>
            <a:ahLst/>
            <a:cxnLst/>
            <a:rect l="l" t="t" r="r" b="b"/>
            <a:pathLst>
              <a:path w="14310" h="1076325">
                <a:moveTo>
                  <a:pt x="0" y="0"/>
                </a:moveTo>
                <a:lnTo>
                  <a:pt x="14310" y="0"/>
                </a:lnTo>
                <a:lnTo>
                  <a:pt x="1431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103168" y="2107239"/>
            <a:ext cx="2147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Socio-Economic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03168" y="2435806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Ticket Tier (Class)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03168" y="2711941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Fare &amp; TicketCost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03168" y="2988077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Berth Location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339195" y="2107239"/>
            <a:ext cx="14310" cy="1076325"/>
          </a:xfrm>
          <a:custGeom>
            <a:avLst/>
            <a:gdLst/>
            <a:ahLst/>
            <a:cxnLst/>
            <a:rect l="l" t="t" r="r" b="b"/>
            <a:pathLst>
              <a:path w="14310" h="1076325">
                <a:moveTo>
                  <a:pt x="0" y="0"/>
                </a:moveTo>
                <a:lnTo>
                  <a:pt x="14310" y="0"/>
                </a:lnTo>
                <a:lnTo>
                  <a:pt x="1431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498728" y="2107239"/>
            <a:ext cx="2147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Family Structure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98728" y="2435806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RelativesAboard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98728" y="2711941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ParentsChildren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498728" y="2988077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FamilySize, Singleton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40921" y="3420168"/>
            <a:ext cx="7038975" cy="7155"/>
          </a:xfrm>
          <a:custGeom>
            <a:avLst/>
            <a:gdLst/>
            <a:ahLst/>
            <a:cxnLst/>
            <a:rect l="l" t="t" r="r" b="b"/>
            <a:pathLst>
              <a:path w="7038975" h="7155">
                <a:moveTo>
                  <a:pt x="0" y="0"/>
                </a:moveTo>
                <a:lnTo>
                  <a:pt x="7038975" y="0"/>
                </a:lnTo>
                <a:lnTo>
                  <a:pt x="7038975" y="7155"/>
                </a:lnTo>
                <a:lnTo>
                  <a:pt x="0" y="715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570686" y="3699881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69488" y="3678528"/>
            <a:ext cx="1700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Feature Dimensions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63926" y="3614246"/>
            <a:ext cx="523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1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 / Data Preparation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2938"/>
            <a:ext cx="11639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Preprocessing &amp; Cleaning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556435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3181" y="188499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5594" y="215162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7439" y="44023"/>
                </a:moveTo>
                <a:cubicBezTo>
                  <a:pt x="230832" y="40630"/>
                  <a:pt x="236503" y="41478"/>
                  <a:pt x="238199" y="45943"/>
                </a:cubicBezTo>
                <a:cubicBezTo>
                  <a:pt x="241236" y="53846"/>
                  <a:pt x="242888" y="62463"/>
                  <a:pt x="242888" y="71438"/>
                </a:cubicBezTo>
                <a:cubicBezTo>
                  <a:pt x="242888" y="110907"/>
                  <a:pt x="210919" y="142875"/>
                  <a:pt x="171450" y="142875"/>
                </a:cubicBezTo>
                <a:cubicBezTo>
                  <a:pt x="163637" y="142875"/>
                  <a:pt x="156091" y="141625"/>
                  <a:pt x="149036" y="139303"/>
                </a:cubicBezTo>
                <a:lnTo>
                  <a:pt x="65589" y="222751"/>
                </a:lnTo>
                <a:cubicBezTo>
                  <a:pt x="53042" y="235297"/>
                  <a:pt x="32683" y="235297"/>
                  <a:pt x="20136" y="222751"/>
                </a:cubicBezTo>
                <a:cubicBezTo>
                  <a:pt x="7590" y="210205"/>
                  <a:pt x="7590" y="189845"/>
                  <a:pt x="20136" y="177299"/>
                </a:cubicBezTo>
                <a:lnTo>
                  <a:pt x="103584" y="93851"/>
                </a:lnTo>
                <a:cubicBezTo>
                  <a:pt x="101263" y="86797"/>
                  <a:pt x="100013" y="79296"/>
                  <a:pt x="100013" y="71438"/>
                </a:cubicBezTo>
                <a:cubicBezTo>
                  <a:pt x="100013" y="31968"/>
                  <a:pt x="131981" y="0"/>
                  <a:pt x="171450" y="0"/>
                </a:cubicBezTo>
                <a:cubicBezTo>
                  <a:pt x="180424" y="0"/>
                  <a:pt x="189041" y="1652"/>
                  <a:pt x="196944" y="4688"/>
                </a:cubicBezTo>
                <a:cubicBezTo>
                  <a:pt x="201409" y="6385"/>
                  <a:pt x="202213" y="12055"/>
                  <a:pt x="198864" y="15448"/>
                </a:cubicBezTo>
                <a:lnTo>
                  <a:pt x="159261" y="55052"/>
                </a:lnTo>
                <a:cubicBezTo>
                  <a:pt x="157922" y="56391"/>
                  <a:pt x="157163" y="58222"/>
                  <a:pt x="157163" y="60097"/>
                </a:cubicBezTo>
                <a:lnTo>
                  <a:pt x="157163" y="78581"/>
                </a:lnTo>
                <a:cubicBezTo>
                  <a:pt x="157163" y="82510"/>
                  <a:pt x="160377" y="85725"/>
                  <a:pt x="164306" y="85725"/>
                </a:cubicBezTo>
                <a:lnTo>
                  <a:pt x="182791" y="85725"/>
                </a:lnTo>
                <a:cubicBezTo>
                  <a:pt x="184666" y="85725"/>
                  <a:pt x="186497" y="84966"/>
                  <a:pt x="187836" y="83627"/>
                </a:cubicBezTo>
                <a:lnTo>
                  <a:pt x="227439" y="44023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1000" y="2799366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545" y="3027878"/>
            <a:ext cx="714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Imputation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66236" y="188499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32936" y="21516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3597" y="100013"/>
                </a:moveTo>
                <a:lnTo>
                  <a:pt x="139303" y="100013"/>
                </a:lnTo>
                <a:cubicBezTo>
                  <a:pt x="133365" y="100013"/>
                  <a:pt x="128588" y="95235"/>
                  <a:pt x="128588" y="89297"/>
                </a:cubicBezTo>
                <a:lnTo>
                  <a:pt x="128588" y="25003"/>
                </a:lnTo>
                <a:cubicBezTo>
                  <a:pt x="128588" y="20672"/>
                  <a:pt x="131177" y="16743"/>
                  <a:pt x="135195" y="15091"/>
                </a:cubicBezTo>
                <a:cubicBezTo>
                  <a:pt x="139214" y="13439"/>
                  <a:pt x="143813" y="14377"/>
                  <a:pt x="146893" y="17413"/>
                </a:cubicBezTo>
                <a:lnTo>
                  <a:pt x="164753" y="35272"/>
                </a:lnTo>
                <a:lnTo>
                  <a:pt x="197525" y="2500"/>
                </a:lnTo>
                <a:cubicBezTo>
                  <a:pt x="199132" y="893"/>
                  <a:pt x="201320" y="0"/>
                  <a:pt x="203597" y="0"/>
                </a:cubicBezTo>
                <a:cubicBezTo>
                  <a:pt x="205874" y="0"/>
                  <a:pt x="208062" y="893"/>
                  <a:pt x="209714" y="2545"/>
                </a:cubicBezTo>
                <a:lnTo>
                  <a:pt x="226100" y="18931"/>
                </a:lnTo>
                <a:cubicBezTo>
                  <a:pt x="227707" y="20538"/>
                  <a:pt x="228600" y="22726"/>
                  <a:pt x="228600" y="25003"/>
                </a:cubicBezTo>
                <a:cubicBezTo>
                  <a:pt x="228600" y="27280"/>
                  <a:pt x="227707" y="29468"/>
                  <a:pt x="226055" y="31120"/>
                </a:cubicBezTo>
                <a:lnTo>
                  <a:pt x="193328" y="63847"/>
                </a:lnTo>
                <a:lnTo>
                  <a:pt x="211187" y="81707"/>
                </a:lnTo>
                <a:cubicBezTo>
                  <a:pt x="214268" y="84787"/>
                  <a:pt x="215161" y="89386"/>
                  <a:pt x="213509" y="93405"/>
                </a:cubicBezTo>
                <a:cubicBezTo>
                  <a:pt x="211857" y="97423"/>
                  <a:pt x="207928" y="100013"/>
                  <a:pt x="203597" y="100013"/>
                </a:cubicBezTo>
                <a:close/>
                <a:moveTo>
                  <a:pt x="203597" y="128588"/>
                </a:moveTo>
                <a:cubicBezTo>
                  <a:pt x="207928" y="128588"/>
                  <a:pt x="211857" y="131177"/>
                  <a:pt x="213509" y="135195"/>
                </a:cubicBezTo>
                <a:cubicBezTo>
                  <a:pt x="215161" y="139214"/>
                  <a:pt x="214268" y="143813"/>
                  <a:pt x="211187" y="146893"/>
                </a:cubicBezTo>
                <a:lnTo>
                  <a:pt x="193328" y="164753"/>
                </a:lnTo>
                <a:lnTo>
                  <a:pt x="226100" y="197525"/>
                </a:lnTo>
                <a:cubicBezTo>
                  <a:pt x="227707" y="199132"/>
                  <a:pt x="228645" y="201320"/>
                  <a:pt x="228645" y="203642"/>
                </a:cubicBezTo>
                <a:cubicBezTo>
                  <a:pt x="228645" y="205963"/>
                  <a:pt x="227752" y="208106"/>
                  <a:pt x="226100" y="209758"/>
                </a:cubicBezTo>
                <a:lnTo>
                  <a:pt x="209714" y="226144"/>
                </a:lnTo>
                <a:cubicBezTo>
                  <a:pt x="208062" y="227707"/>
                  <a:pt x="205874" y="228600"/>
                  <a:pt x="203597" y="228600"/>
                </a:cubicBezTo>
                <a:cubicBezTo>
                  <a:pt x="201320" y="228600"/>
                  <a:pt x="199132" y="227707"/>
                  <a:pt x="197480" y="226055"/>
                </a:cubicBezTo>
                <a:lnTo>
                  <a:pt x="164753" y="193328"/>
                </a:lnTo>
                <a:lnTo>
                  <a:pt x="146893" y="211187"/>
                </a:lnTo>
                <a:cubicBezTo>
                  <a:pt x="143813" y="214268"/>
                  <a:pt x="139214" y="215161"/>
                  <a:pt x="135195" y="213509"/>
                </a:cubicBezTo>
                <a:cubicBezTo>
                  <a:pt x="131177" y="211857"/>
                  <a:pt x="128588" y="207928"/>
                  <a:pt x="128588" y="203597"/>
                </a:cubicBezTo>
                <a:lnTo>
                  <a:pt x="128588" y="139303"/>
                </a:lnTo>
                <a:cubicBezTo>
                  <a:pt x="128588" y="133365"/>
                  <a:pt x="133365" y="128588"/>
                  <a:pt x="139303" y="128588"/>
                </a:cubicBezTo>
                <a:lnTo>
                  <a:pt x="203597" y="128588"/>
                </a:lnTo>
                <a:close/>
                <a:moveTo>
                  <a:pt x="89297" y="128588"/>
                </a:moveTo>
                <a:cubicBezTo>
                  <a:pt x="95235" y="128588"/>
                  <a:pt x="100013" y="133365"/>
                  <a:pt x="100013" y="139303"/>
                </a:cubicBezTo>
                <a:lnTo>
                  <a:pt x="100013" y="203597"/>
                </a:lnTo>
                <a:cubicBezTo>
                  <a:pt x="100013" y="207928"/>
                  <a:pt x="97423" y="211857"/>
                  <a:pt x="93405" y="213509"/>
                </a:cubicBezTo>
                <a:cubicBezTo>
                  <a:pt x="89386" y="215161"/>
                  <a:pt x="84787" y="214268"/>
                  <a:pt x="81707" y="211187"/>
                </a:cubicBezTo>
                <a:lnTo>
                  <a:pt x="63847" y="193328"/>
                </a:lnTo>
                <a:lnTo>
                  <a:pt x="31075" y="226100"/>
                </a:lnTo>
                <a:cubicBezTo>
                  <a:pt x="29468" y="227707"/>
                  <a:pt x="27280" y="228600"/>
                  <a:pt x="25003" y="228600"/>
                </a:cubicBezTo>
                <a:cubicBezTo>
                  <a:pt x="22726" y="228600"/>
                  <a:pt x="20538" y="227707"/>
                  <a:pt x="18886" y="226055"/>
                </a:cubicBezTo>
                <a:lnTo>
                  <a:pt x="2545" y="209714"/>
                </a:lnTo>
                <a:cubicBezTo>
                  <a:pt x="893" y="208062"/>
                  <a:pt x="0" y="205874"/>
                  <a:pt x="0" y="203597"/>
                </a:cubicBezTo>
                <a:cubicBezTo>
                  <a:pt x="0" y="201320"/>
                  <a:pt x="893" y="199132"/>
                  <a:pt x="2545" y="197480"/>
                </a:cubicBezTo>
                <a:lnTo>
                  <a:pt x="35272" y="164753"/>
                </a:lnTo>
                <a:lnTo>
                  <a:pt x="17413" y="146893"/>
                </a:lnTo>
                <a:cubicBezTo>
                  <a:pt x="14332" y="143813"/>
                  <a:pt x="13439" y="139214"/>
                  <a:pt x="15091" y="135195"/>
                </a:cubicBezTo>
                <a:cubicBezTo>
                  <a:pt x="16743" y="131177"/>
                  <a:pt x="20672" y="128588"/>
                  <a:pt x="25003" y="128588"/>
                </a:cubicBezTo>
                <a:lnTo>
                  <a:pt x="89297" y="128588"/>
                </a:lnTo>
                <a:close/>
                <a:moveTo>
                  <a:pt x="25003" y="100013"/>
                </a:moveTo>
                <a:cubicBezTo>
                  <a:pt x="20672" y="100013"/>
                  <a:pt x="16743" y="97423"/>
                  <a:pt x="15091" y="93405"/>
                </a:cubicBezTo>
                <a:cubicBezTo>
                  <a:pt x="13439" y="89386"/>
                  <a:pt x="14377" y="84787"/>
                  <a:pt x="17413" y="81707"/>
                </a:cubicBezTo>
                <a:lnTo>
                  <a:pt x="35272" y="63847"/>
                </a:lnTo>
                <a:lnTo>
                  <a:pt x="2545" y="31120"/>
                </a:lnTo>
                <a:cubicBezTo>
                  <a:pt x="893" y="29468"/>
                  <a:pt x="0" y="27280"/>
                  <a:pt x="0" y="25003"/>
                </a:cubicBezTo>
                <a:cubicBezTo>
                  <a:pt x="0" y="22726"/>
                  <a:pt x="893" y="20538"/>
                  <a:pt x="2545" y="18886"/>
                </a:cubicBezTo>
                <a:lnTo>
                  <a:pt x="18886" y="2545"/>
                </a:lnTo>
                <a:cubicBezTo>
                  <a:pt x="20538" y="893"/>
                  <a:pt x="22726" y="0"/>
                  <a:pt x="25003" y="0"/>
                </a:cubicBezTo>
                <a:cubicBezTo>
                  <a:pt x="27280" y="0"/>
                  <a:pt x="29468" y="893"/>
                  <a:pt x="31120" y="2545"/>
                </a:cubicBezTo>
                <a:lnTo>
                  <a:pt x="63847" y="35272"/>
                </a:lnTo>
                <a:lnTo>
                  <a:pt x="81707" y="17413"/>
                </a:lnTo>
                <a:cubicBezTo>
                  <a:pt x="84787" y="14332"/>
                  <a:pt x="89386" y="13439"/>
                  <a:pt x="93405" y="15091"/>
                </a:cubicBezTo>
                <a:cubicBezTo>
                  <a:pt x="97423" y="16743"/>
                  <a:pt x="100013" y="20672"/>
                  <a:pt x="100013" y="25003"/>
                </a:cubicBezTo>
                <a:lnTo>
                  <a:pt x="100013" y="89297"/>
                </a:lnTo>
                <a:cubicBezTo>
                  <a:pt x="100013" y="95235"/>
                  <a:pt x="95235" y="100013"/>
                  <a:pt x="89297" y="100013"/>
                </a:cubicBezTo>
                <a:lnTo>
                  <a:pt x="25003" y="10001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86863" y="2799366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29905" y="3027878"/>
            <a:ext cx="504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57618" y="188499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810030" y="215162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9130" y="17458"/>
                </a:moveTo>
                <a:lnTo>
                  <a:pt x="245299" y="84564"/>
                </a:lnTo>
                <a:cubicBezTo>
                  <a:pt x="257666" y="97110"/>
                  <a:pt x="257666" y="117202"/>
                  <a:pt x="245299" y="129748"/>
                </a:cubicBezTo>
                <a:lnTo>
                  <a:pt x="175468" y="200427"/>
                </a:lnTo>
                <a:cubicBezTo>
                  <a:pt x="171316" y="204624"/>
                  <a:pt x="164529" y="204668"/>
                  <a:pt x="160333" y="200516"/>
                </a:cubicBezTo>
                <a:cubicBezTo>
                  <a:pt x="156136" y="196364"/>
                  <a:pt x="156091" y="189577"/>
                  <a:pt x="160243" y="185380"/>
                </a:cubicBezTo>
                <a:lnTo>
                  <a:pt x="230073" y="114657"/>
                </a:lnTo>
                <a:cubicBezTo>
                  <a:pt x="234181" y="110505"/>
                  <a:pt x="234181" y="103763"/>
                  <a:pt x="230073" y="99611"/>
                </a:cubicBezTo>
                <a:lnTo>
                  <a:pt x="163860" y="32549"/>
                </a:lnTo>
                <a:cubicBezTo>
                  <a:pt x="159707" y="28352"/>
                  <a:pt x="159752" y="21565"/>
                  <a:pt x="163949" y="17413"/>
                </a:cubicBezTo>
                <a:cubicBezTo>
                  <a:pt x="168146" y="13261"/>
                  <a:pt x="174933" y="13305"/>
                  <a:pt x="179085" y="17502"/>
                </a:cubicBezTo>
                <a:close/>
                <a:moveTo>
                  <a:pt x="14332" y="102468"/>
                </a:moveTo>
                <a:lnTo>
                  <a:pt x="14332" y="42863"/>
                </a:lnTo>
                <a:cubicBezTo>
                  <a:pt x="14332" y="27102"/>
                  <a:pt x="27146" y="14288"/>
                  <a:pt x="42907" y="14288"/>
                </a:cubicBezTo>
                <a:lnTo>
                  <a:pt x="102513" y="14288"/>
                </a:lnTo>
                <a:cubicBezTo>
                  <a:pt x="110103" y="14288"/>
                  <a:pt x="117381" y="17279"/>
                  <a:pt x="122739" y="22637"/>
                </a:cubicBezTo>
                <a:lnTo>
                  <a:pt x="187032" y="86931"/>
                </a:lnTo>
                <a:cubicBezTo>
                  <a:pt x="198194" y="98093"/>
                  <a:pt x="198194" y="116175"/>
                  <a:pt x="187032" y="127337"/>
                </a:cubicBezTo>
                <a:lnTo>
                  <a:pt x="127427" y="186943"/>
                </a:lnTo>
                <a:cubicBezTo>
                  <a:pt x="116265" y="198105"/>
                  <a:pt x="98182" y="198105"/>
                  <a:pt x="87020" y="186943"/>
                </a:cubicBezTo>
                <a:lnTo>
                  <a:pt x="22726" y="122649"/>
                </a:lnTo>
                <a:cubicBezTo>
                  <a:pt x="17368" y="117291"/>
                  <a:pt x="14377" y="110014"/>
                  <a:pt x="14377" y="102424"/>
                </a:cubicBezTo>
                <a:close/>
                <a:moveTo>
                  <a:pt x="78626" y="64294"/>
                </a:moveTo>
                <a:cubicBezTo>
                  <a:pt x="78626" y="56408"/>
                  <a:pt x="72224" y="50006"/>
                  <a:pt x="64338" y="50006"/>
                </a:cubicBezTo>
                <a:cubicBezTo>
                  <a:pt x="56453" y="50006"/>
                  <a:pt x="50051" y="56408"/>
                  <a:pt x="50051" y="64294"/>
                </a:cubicBezTo>
                <a:cubicBezTo>
                  <a:pt x="50051" y="72179"/>
                  <a:pt x="56453" y="78581"/>
                  <a:pt x="64338" y="78581"/>
                </a:cubicBezTo>
                <a:cubicBezTo>
                  <a:pt x="72224" y="78581"/>
                  <a:pt x="78626" y="72179"/>
                  <a:pt x="78626" y="642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47221" y="2799366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63041" y="3027878"/>
            <a:ext cx="619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049000" y="188499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1315700" y="21516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233016" y="2799366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72422" y="3027878"/>
            <a:ext cx="581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5281" y="3837391"/>
            <a:ext cx="372903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Improves training stability through consistent data distributions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31414" y="3837391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Reduces algorithmic bias by normalizing feature scales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17547" y="3837391"/>
            <a:ext cx="372903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Directly enhances prediction accuracy through quality control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4606321"/>
            <a:ext cx="11430000" cy="1381125"/>
          </a:xfrm>
          <a:custGeom>
            <a:avLst/>
            <a:gdLst/>
            <a:ahLst/>
            <a:cxnLst/>
            <a:rect l="l" t="t" r="r" b="b"/>
            <a:pathLst>
              <a:path w="11430000" h="1381125">
                <a:moveTo>
                  <a:pt x="76197" y="0"/>
                </a:moveTo>
                <a:lnTo>
                  <a:pt x="11353803" y="0"/>
                </a:lnTo>
                <a:cubicBezTo>
                  <a:pt x="11395886" y="0"/>
                  <a:pt x="11430000" y="34114"/>
                  <a:pt x="11430000" y="76197"/>
                </a:cubicBezTo>
                <a:lnTo>
                  <a:pt x="11430000" y="1304928"/>
                </a:lnTo>
                <a:cubicBezTo>
                  <a:pt x="11430000" y="1347011"/>
                  <a:pt x="11395886" y="1381125"/>
                  <a:pt x="11353803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5755" y="503002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38088" y="51824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447643" y="5056189"/>
            <a:ext cx="407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47643" y="5280003"/>
            <a:ext cx="4095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Preprocessing directly enhances prediction accuracy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19004" y="4911077"/>
            <a:ext cx="2190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2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15–20%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19029" y="5482465"/>
            <a:ext cx="1990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 improvement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1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 / Feature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2938"/>
            <a:ext cx="11639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Secret Weapon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155" y="1402479"/>
            <a:ext cx="5548335" cy="2014560"/>
          </a:xfrm>
          <a:custGeom>
            <a:avLst/>
            <a:gdLst/>
            <a:ahLst/>
            <a:cxnLst/>
            <a:rect l="l" t="t" r="r" b="b"/>
            <a:pathLst>
              <a:path w="5548335" h="2014560">
                <a:moveTo>
                  <a:pt x="76191" y="0"/>
                </a:moveTo>
                <a:lnTo>
                  <a:pt x="5472144" y="0"/>
                </a:lnTo>
                <a:cubicBezTo>
                  <a:pt x="5514223" y="0"/>
                  <a:pt x="5548335" y="34112"/>
                  <a:pt x="5548335" y="76191"/>
                </a:cubicBezTo>
                <a:lnTo>
                  <a:pt x="5548335" y="1938369"/>
                </a:lnTo>
                <a:cubicBezTo>
                  <a:pt x="5548335" y="1980448"/>
                  <a:pt x="5514223" y="2014560"/>
                  <a:pt x="5472144" y="2014560"/>
                </a:cubicBezTo>
                <a:lnTo>
                  <a:pt x="76191" y="2014560"/>
                </a:lnTo>
                <a:cubicBezTo>
                  <a:pt x="34112" y="2014560"/>
                  <a:pt x="0" y="1980448"/>
                  <a:pt x="0" y="1938369"/>
                </a:cubicBezTo>
                <a:lnTo>
                  <a:pt x="0" y="76191"/>
                </a:lnTo>
                <a:cubicBezTo>
                  <a:pt x="0" y="34112"/>
                  <a:pt x="34112" y="0"/>
                  <a:pt x="76191" y="0"/>
                </a:cubicBezTo>
                <a:close/>
              </a:path>
            </a:pathLst>
          </a:custGeom>
          <a:solidFill>
            <a:srgbClr val="FFFFFF"/>
          </a:solidFill>
          <a:ln w="19080">
            <a:solidFill>
              <a:srgbClr val="2563E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3820" y="16381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6153" y="17905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2105" y="15091"/>
                </a:moveTo>
                <a:cubicBezTo>
                  <a:pt x="54114" y="12368"/>
                  <a:pt x="57329" y="10716"/>
                  <a:pt x="60722" y="10716"/>
                </a:cubicBezTo>
                <a:lnTo>
                  <a:pt x="167878" y="10716"/>
                </a:lnTo>
                <a:cubicBezTo>
                  <a:pt x="171271" y="10716"/>
                  <a:pt x="174486" y="12323"/>
                  <a:pt x="176495" y="15091"/>
                </a:cubicBezTo>
                <a:lnTo>
                  <a:pt x="226502" y="82957"/>
                </a:lnTo>
                <a:cubicBezTo>
                  <a:pt x="229538" y="87064"/>
                  <a:pt x="229225" y="92735"/>
                  <a:pt x="225832" y="96530"/>
                </a:cubicBezTo>
                <a:lnTo>
                  <a:pt x="122247" y="210830"/>
                </a:lnTo>
                <a:cubicBezTo>
                  <a:pt x="120238" y="213062"/>
                  <a:pt x="117336" y="214357"/>
                  <a:pt x="114300" y="214357"/>
                </a:cubicBezTo>
                <a:cubicBezTo>
                  <a:pt x="111264" y="214357"/>
                  <a:pt x="108406" y="213062"/>
                  <a:pt x="106353" y="210830"/>
                </a:cubicBezTo>
                <a:lnTo>
                  <a:pt x="2768" y="96530"/>
                </a:lnTo>
                <a:cubicBezTo>
                  <a:pt x="-670" y="92735"/>
                  <a:pt x="-938" y="87064"/>
                  <a:pt x="2098" y="82957"/>
                </a:cubicBezTo>
                <a:lnTo>
                  <a:pt x="52105" y="15091"/>
                </a:lnTo>
                <a:close/>
                <a:moveTo>
                  <a:pt x="69294" y="32861"/>
                </a:moveTo>
                <a:cubicBezTo>
                  <a:pt x="67821" y="33977"/>
                  <a:pt x="67419" y="35987"/>
                  <a:pt x="68357" y="37549"/>
                </a:cubicBezTo>
                <a:lnTo>
                  <a:pt x="93985" y="80278"/>
                </a:lnTo>
                <a:lnTo>
                  <a:pt x="28262" y="85725"/>
                </a:lnTo>
                <a:cubicBezTo>
                  <a:pt x="26432" y="85859"/>
                  <a:pt x="25003" y="87422"/>
                  <a:pt x="25003" y="89297"/>
                </a:cubicBezTo>
                <a:cubicBezTo>
                  <a:pt x="25003" y="91172"/>
                  <a:pt x="26432" y="92690"/>
                  <a:pt x="28262" y="92869"/>
                </a:cubicBezTo>
                <a:lnTo>
                  <a:pt x="113987" y="100013"/>
                </a:lnTo>
                <a:cubicBezTo>
                  <a:pt x="114166" y="100013"/>
                  <a:pt x="114389" y="100013"/>
                  <a:pt x="114568" y="100013"/>
                </a:cubicBezTo>
                <a:lnTo>
                  <a:pt x="200293" y="92869"/>
                </a:lnTo>
                <a:cubicBezTo>
                  <a:pt x="202123" y="92735"/>
                  <a:pt x="203552" y="91172"/>
                  <a:pt x="203552" y="89297"/>
                </a:cubicBezTo>
                <a:cubicBezTo>
                  <a:pt x="203552" y="87422"/>
                  <a:pt x="202123" y="85904"/>
                  <a:pt x="200293" y="85725"/>
                </a:cubicBezTo>
                <a:lnTo>
                  <a:pt x="134570" y="80233"/>
                </a:lnTo>
                <a:lnTo>
                  <a:pt x="160199" y="37549"/>
                </a:lnTo>
                <a:cubicBezTo>
                  <a:pt x="161136" y="35987"/>
                  <a:pt x="160734" y="33933"/>
                  <a:pt x="159261" y="32861"/>
                </a:cubicBezTo>
                <a:cubicBezTo>
                  <a:pt x="157788" y="31790"/>
                  <a:pt x="155734" y="31968"/>
                  <a:pt x="154484" y="33308"/>
                </a:cubicBezTo>
                <a:lnTo>
                  <a:pt x="114300" y="76885"/>
                </a:lnTo>
                <a:lnTo>
                  <a:pt x="74072" y="33308"/>
                </a:lnTo>
                <a:cubicBezTo>
                  <a:pt x="72822" y="31968"/>
                  <a:pt x="70768" y="31790"/>
                  <a:pt x="69294" y="32861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09576" y="1638144"/>
            <a:ext cx="163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RichWoman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9576" y="1981021"/>
            <a:ext cx="1590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Interaction Feature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3820" y="2333402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Combines </a:t>
            </a: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female gender</a:t>
            </a: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</a:t>
            </a: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upper-class status</a:t>
            </a: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capturing the "women and children first" protocol that was biased towards wealth.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2870" y="301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6641" y="2980811"/>
            <a:ext cx="1514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2563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survival correlation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5532" y="1402479"/>
            <a:ext cx="5548335" cy="2014560"/>
          </a:xfrm>
          <a:custGeom>
            <a:avLst/>
            <a:gdLst/>
            <a:ahLst/>
            <a:cxnLst/>
            <a:rect l="l" t="t" r="r" b="b"/>
            <a:pathLst>
              <a:path w="5548335" h="2014560">
                <a:moveTo>
                  <a:pt x="76191" y="0"/>
                </a:moveTo>
                <a:lnTo>
                  <a:pt x="5472144" y="0"/>
                </a:lnTo>
                <a:cubicBezTo>
                  <a:pt x="5514223" y="0"/>
                  <a:pt x="5548335" y="34112"/>
                  <a:pt x="5548335" y="76191"/>
                </a:cubicBezTo>
                <a:lnTo>
                  <a:pt x="5548335" y="1938369"/>
                </a:lnTo>
                <a:cubicBezTo>
                  <a:pt x="5548335" y="1980448"/>
                  <a:pt x="5514223" y="2014560"/>
                  <a:pt x="5472144" y="2014560"/>
                </a:cubicBezTo>
                <a:lnTo>
                  <a:pt x="76191" y="2014560"/>
                </a:lnTo>
                <a:cubicBezTo>
                  <a:pt x="34112" y="2014560"/>
                  <a:pt x="0" y="1980448"/>
                  <a:pt x="0" y="1938369"/>
                </a:cubicBezTo>
                <a:lnTo>
                  <a:pt x="0" y="76191"/>
                </a:lnTo>
                <a:cubicBezTo>
                  <a:pt x="0" y="34112"/>
                  <a:pt x="34112" y="0"/>
                  <a:pt x="76191" y="0"/>
                </a:cubicBezTo>
                <a:close/>
              </a:path>
            </a:pathLst>
          </a:custGeom>
          <a:solidFill>
            <a:srgbClr val="FFFFFF"/>
          </a:solidFill>
          <a:ln w="19080">
            <a:solidFill>
              <a:srgbClr val="9CA3A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91198" y="16381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CA3A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672106" y="179052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0728" y="10716"/>
                </a:moveTo>
                <a:cubicBezTo>
                  <a:pt x="110728" y="-3084"/>
                  <a:pt x="99525" y="-14287"/>
                  <a:pt x="85725" y="-14287"/>
                </a:cubicBezTo>
                <a:cubicBezTo>
                  <a:pt x="71925" y="-14287"/>
                  <a:pt x="60722" y="-3084"/>
                  <a:pt x="60722" y="10716"/>
                </a:cubicBezTo>
                <a:cubicBezTo>
                  <a:pt x="60722" y="24515"/>
                  <a:pt x="71925" y="35719"/>
                  <a:pt x="85725" y="35719"/>
                </a:cubicBezTo>
                <a:cubicBezTo>
                  <a:pt x="99525" y="35719"/>
                  <a:pt x="110728" y="24515"/>
                  <a:pt x="110728" y="10716"/>
                </a:cubicBezTo>
                <a:close/>
                <a:moveTo>
                  <a:pt x="121444" y="105683"/>
                </a:moveTo>
                <a:lnTo>
                  <a:pt x="142116" y="133543"/>
                </a:lnTo>
                <a:cubicBezTo>
                  <a:pt x="146804" y="139884"/>
                  <a:pt x="155778" y="141223"/>
                  <a:pt x="162118" y="136490"/>
                </a:cubicBezTo>
                <a:cubicBezTo>
                  <a:pt x="168459" y="131758"/>
                  <a:pt x="169798" y="122828"/>
                  <a:pt x="165065" y="116488"/>
                </a:cubicBezTo>
                <a:lnTo>
                  <a:pt x="133588" y="74072"/>
                </a:lnTo>
                <a:cubicBezTo>
                  <a:pt x="122337" y="58936"/>
                  <a:pt x="104611" y="50006"/>
                  <a:pt x="85725" y="50006"/>
                </a:cubicBezTo>
                <a:cubicBezTo>
                  <a:pt x="66839" y="50006"/>
                  <a:pt x="49113" y="58936"/>
                  <a:pt x="37862" y="74072"/>
                </a:cubicBezTo>
                <a:lnTo>
                  <a:pt x="6385" y="116488"/>
                </a:lnTo>
                <a:cubicBezTo>
                  <a:pt x="1697" y="122828"/>
                  <a:pt x="2991" y="131758"/>
                  <a:pt x="9332" y="136490"/>
                </a:cubicBezTo>
                <a:cubicBezTo>
                  <a:pt x="15672" y="141223"/>
                  <a:pt x="24601" y="139884"/>
                  <a:pt x="29334" y="133543"/>
                </a:cubicBezTo>
                <a:lnTo>
                  <a:pt x="50006" y="105683"/>
                </a:lnTo>
                <a:lnTo>
                  <a:pt x="50006" y="228600"/>
                </a:lnTo>
                <a:cubicBezTo>
                  <a:pt x="50006" y="236503"/>
                  <a:pt x="56391" y="242888"/>
                  <a:pt x="64294" y="242888"/>
                </a:cubicBezTo>
                <a:cubicBezTo>
                  <a:pt x="72197" y="242888"/>
                  <a:pt x="78581" y="236503"/>
                  <a:pt x="78581" y="228600"/>
                </a:cubicBezTo>
                <a:lnTo>
                  <a:pt x="78581" y="157163"/>
                </a:lnTo>
                <a:cubicBezTo>
                  <a:pt x="78581" y="153233"/>
                  <a:pt x="81796" y="150019"/>
                  <a:pt x="85725" y="150019"/>
                </a:cubicBezTo>
                <a:cubicBezTo>
                  <a:pt x="89654" y="150019"/>
                  <a:pt x="92869" y="153233"/>
                  <a:pt x="92869" y="157163"/>
                </a:cubicBezTo>
                <a:lnTo>
                  <a:pt x="92869" y="228600"/>
                </a:lnTo>
                <a:cubicBezTo>
                  <a:pt x="92869" y="236503"/>
                  <a:pt x="99253" y="242888"/>
                  <a:pt x="107156" y="242888"/>
                </a:cubicBezTo>
                <a:cubicBezTo>
                  <a:pt x="115059" y="242888"/>
                  <a:pt x="121444" y="236503"/>
                  <a:pt x="121444" y="228600"/>
                </a:cubicBezTo>
                <a:lnTo>
                  <a:pt x="121444" y="105683"/>
                </a:ln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176953" y="1638144"/>
            <a:ext cx="163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PoorMan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76953" y="1981021"/>
            <a:ext cx="1590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Interaction Feature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1198" y="2333402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Male passengers in </a:t>
            </a: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 ticket tiers</a:t>
            </a: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faced significantly reduced survival rates due to cabin location and social protocols.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0248" y="301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34018" y="2980811"/>
            <a:ext cx="1485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 survival correlation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577" y="3655722"/>
            <a:ext cx="11418105" cy="1073955"/>
          </a:xfrm>
          <a:custGeom>
            <a:avLst/>
            <a:gdLst/>
            <a:ahLst/>
            <a:cxnLst/>
            <a:rect l="l" t="t" r="r" b="b"/>
            <a:pathLst>
              <a:path w="11418105" h="1073955">
                <a:moveTo>
                  <a:pt x="76197" y="0"/>
                </a:moveTo>
                <a:lnTo>
                  <a:pt x="11341908" y="0"/>
                </a:lnTo>
                <a:cubicBezTo>
                  <a:pt x="11383990" y="0"/>
                  <a:pt x="11418105" y="34115"/>
                  <a:pt x="11418105" y="76197"/>
                </a:cubicBezTo>
                <a:lnTo>
                  <a:pt x="11418105" y="997758"/>
                </a:lnTo>
                <a:cubicBezTo>
                  <a:pt x="11418105" y="1039840"/>
                  <a:pt x="11383990" y="1073955"/>
                  <a:pt x="11341908" y="1073955"/>
                </a:cubicBezTo>
                <a:lnTo>
                  <a:pt x="76197" y="1073955"/>
                </a:lnTo>
                <a:cubicBezTo>
                  <a:pt x="34143" y="1073955"/>
                  <a:pt x="0" y="1039812"/>
                  <a:pt x="0" y="99775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766E">
              <a:alpha val="5098"/>
            </a:srgbClr>
          </a:solidFill>
          <a:ln w="9540">
            <a:solidFill>
              <a:srgbClr val="0F766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6665" y="38878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26114" y="402107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64298" y="3887809"/>
            <a:ext cx="9324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Family Survival Rate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64298" y="4249694"/>
            <a:ext cx="9305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Leakage-free encoding of family group survival patterns using </a:t>
            </a:r>
            <a:r>
              <a:rPr lang="en-US" sz="1200" b="1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out-of-fold methodology</a:t>
            </a: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prevent target information bleeding.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26211" y="3887809"/>
            <a:ext cx="947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02398" y="4111626"/>
            <a:ext cx="97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Out-of-Fold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5158146"/>
            <a:ext cx="11430000" cy="1314450"/>
          </a:xfrm>
          <a:custGeom>
            <a:avLst/>
            <a:gdLst/>
            <a:ahLst/>
            <a:cxnLst/>
            <a:rect l="l" t="t" r="r" b="b"/>
            <a:pathLst>
              <a:path w="11430000" h="1314450">
                <a:moveTo>
                  <a:pt x="76199" y="0"/>
                </a:moveTo>
                <a:lnTo>
                  <a:pt x="11353801" y="0"/>
                </a:lnTo>
                <a:cubicBezTo>
                  <a:pt x="11395885" y="0"/>
                  <a:pt x="11430000" y="34115"/>
                  <a:pt x="11430000" y="76199"/>
                </a:cubicBezTo>
                <a:lnTo>
                  <a:pt x="11430000" y="1238251"/>
                </a:lnTo>
                <a:cubicBezTo>
                  <a:pt x="11430000" y="1280335"/>
                  <a:pt x="11395885" y="1314450"/>
                  <a:pt x="11353801" y="1314450"/>
                </a:cubicBezTo>
                <a:lnTo>
                  <a:pt x="76199" y="1314450"/>
                </a:lnTo>
                <a:cubicBezTo>
                  <a:pt x="34115" y="1314450"/>
                  <a:pt x="0" y="1280335"/>
                  <a:pt x="0" y="12382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9511" y="55888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66584" y="572215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257143" y="5573467"/>
            <a:ext cx="6376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57143" y="5825791"/>
            <a:ext cx="6391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50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 knowledge and creative feature design often outperform model complexity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6395" y="5386655"/>
            <a:ext cx="1414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28282" y="5610471"/>
            <a:ext cx="1552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15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+6–7%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61632" y="6048487"/>
            <a:ext cx="1419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 improvement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1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 / Data Integrity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2938"/>
            <a:ext cx="11639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Leakage &amp; Prevention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577" y="1398902"/>
            <a:ext cx="5550705" cy="5074455"/>
          </a:xfrm>
          <a:custGeom>
            <a:avLst/>
            <a:gdLst/>
            <a:ahLst/>
            <a:cxnLst/>
            <a:rect l="l" t="t" r="r" b="b"/>
            <a:pathLst>
              <a:path w="5550705" h="5074455">
                <a:moveTo>
                  <a:pt x="76218" y="0"/>
                </a:moveTo>
                <a:lnTo>
                  <a:pt x="5474487" y="0"/>
                </a:lnTo>
                <a:cubicBezTo>
                  <a:pt x="5516581" y="0"/>
                  <a:pt x="5550705" y="34124"/>
                  <a:pt x="5550705" y="76218"/>
                </a:cubicBezTo>
                <a:lnTo>
                  <a:pt x="5550705" y="4998237"/>
                </a:lnTo>
                <a:cubicBezTo>
                  <a:pt x="5550705" y="5040331"/>
                  <a:pt x="5516581" y="5074455"/>
                  <a:pt x="5474487" y="5074455"/>
                </a:cubicBezTo>
                <a:lnTo>
                  <a:pt x="76218" y="5074455"/>
                </a:lnTo>
                <a:cubicBezTo>
                  <a:pt x="34124" y="5074455"/>
                  <a:pt x="0" y="5040331"/>
                  <a:pt x="0" y="4998237"/>
                </a:cubicBezTo>
                <a:lnTo>
                  <a:pt x="0" y="76218"/>
                </a:lnTo>
                <a:cubicBezTo>
                  <a:pt x="0" y="34124"/>
                  <a:pt x="34124" y="0"/>
                  <a:pt x="76218" y="0"/>
                </a:cubicBezTo>
                <a:close/>
              </a:path>
            </a:pathLst>
          </a:custGeom>
          <a:solidFill>
            <a:srgbClr val="EF4444">
              <a:alpha val="5098"/>
            </a:srgbClr>
          </a:solidFill>
          <a:ln w="954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6665" y="16309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9003" y="173574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1921" y="1664303"/>
            <a:ext cx="2238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is Data Leakage?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6665" y="2202489"/>
            <a:ext cx="5172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Unintentional use of </a:t>
            </a:r>
            <a:r>
              <a:rPr lang="en-US" sz="120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information</a:t>
            </a: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during training, creating artificially inflated performance that fails in production.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0243" y="2929608"/>
            <a:ext cx="5083980" cy="3312330"/>
          </a:xfrm>
          <a:custGeom>
            <a:avLst/>
            <a:gdLst/>
            <a:ahLst/>
            <a:cxnLst/>
            <a:rect l="l" t="t" r="r" b="b"/>
            <a:pathLst>
              <a:path w="5083980" h="3312330">
                <a:moveTo>
                  <a:pt x="76184" y="0"/>
                </a:moveTo>
                <a:lnTo>
                  <a:pt x="5007796" y="0"/>
                </a:lnTo>
                <a:cubicBezTo>
                  <a:pt x="5049871" y="0"/>
                  <a:pt x="5083980" y="34109"/>
                  <a:pt x="5083980" y="76184"/>
                </a:cubicBezTo>
                <a:lnTo>
                  <a:pt x="5083980" y="3236146"/>
                </a:lnTo>
                <a:cubicBezTo>
                  <a:pt x="5083980" y="3278221"/>
                  <a:pt x="5049871" y="3312330"/>
                  <a:pt x="5007796" y="3312330"/>
                </a:cubicBezTo>
                <a:lnTo>
                  <a:pt x="76184" y="3312330"/>
                </a:lnTo>
                <a:cubicBezTo>
                  <a:pt x="34109" y="3312330"/>
                  <a:pt x="0" y="3278221"/>
                  <a:pt x="0" y="3236146"/>
                </a:cubicBezTo>
                <a:lnTo>
                  <a:pt x="0" y="76184"/>
                </a:lnTo>
                <a:cubicBezTo>
                  <a:pt x="0" y="34137"/>
                  <a:pt x="34137" y="0"/>
                  <a:pt x="76184" y="0"/>
                </a:cubicBezTo>
                <a:close/>
              </a:path>
            </a:pathLst>
          </a:custGeom>
          <a:solidFill>
            <a:srgbClr val="FFFFFF"/>
          </a:solidFill>
          <a:ln w="954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14320" y="3123684"/>
            <a:ext cx="47577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Detected Issue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320" y="3423745"/>
            <a:ext cx="476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Family-based survival encoding was using </a:t>
            </a:r>
            <a:r>
              <a:rPr lang="en-US" sz="1125" b="1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information</a:t>
            </a: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causing: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4320" y="3808209"/>
            <a:ext cx="4695825" cy="981075"/>
          </a:xfrm>
          <a:custGeom>
            <a:avLst/>
            <a:gdLst/>
            <a:ahLst/>
            <a:cxnLst/>
            <a:rect l="l" t="t" r="r" b="b"/>
            <a:pathLst>
              <a:path w="4695825" h="981075">
                <a:moveTo>
                  <a:pt x="76200" y="0"/>
                </a:moveTo>
                <a:lnTo>
                  <a:pt x="4619625" y="0"/>
                </a:lnTo>
                <a:cubicBezTo>
                  <a:pt x="4661709" y="0"/>
                  <a:pt x="4695825" y="34116"/>
                  <a:pt x="4695825" y="76200"/>
                </a:cubicBezTo>
                <a:lnTo>
                  <a:pt x="4695825" y="904875"/>
                </a:lnTo>
                <a:cubicBezTo>
                  <a:pt x="4695825" y="946959"/>
                  <a:pt x="4661709" y="981075"/>
                  <a:pt x="4619625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6698" y="3960591"/>
            <a:ext cx="10525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Accuracy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6698" y="418440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EF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96%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47901" y="41867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04386" y="4060534"/>
            <a:ext cx="8524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7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73" y="4284348"/>
            <a:ext cx="876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4320" y="4946293"/>
            <a:ext cx="476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Artificially high performance that doesn't translate to real-world scenarios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1955" y="1398902"/>
            <a:ext cx="5550705" cy="5074455"/>
          </a:xfrm>
          <a:custGeom>
            <a:avLst/>
            <a:gdLst/>
            <a:ahLst/>
            <a:cxnLst/>
            <a:rect l="l" t="t" r="r" b="b"/>
            <a:pathLst>
              <a:path w="5550705" h="5074455">
                <a:moveTo>
                  <a:pt x="76218" y="0"/>
                </a:moveTo>
                <a:lnTo>
                  <a:pt x="5474487" y="0"/>
                </a:lnTo>
                <a:cubicBezTo>
                  <a:pt x="5516581" y="0"/>
                  <a:pt x="5550705" y="34124"/>
                  <a:pt x="5550705" y="76218"/>
                </a:cubicBezTo>
                <a:lnTo>
                  <a:pt x="5550705" y="4998237"/>
                </a:lnTo>
                <a:cubicBezTo>
                  <a:pt x="5550705" y="5040331"/>
                  <a:pt x="5516581" y="5074455"/>
                  <a:pt x="5474487" y="5074455"/>
                </a:cubicBezTo>
                <a:lnTo>
                  <a:pt x="76218" y="5074455"/>
                </a:lnTo>
                <a:cubicBezTo>
                  <a:pt x="34124" y="5074455"/>
                  <a:pt x="0" y="5040331"/>
                  <a:pt x="0" y="4998237"/>
                </a:cubicBezTo>
                <a:lnTo>
                  <a:pt x="0" y="76218"/>
                </a:lnTo>
                <a:cubicBezTo>
                  <a:pt x="0" y="34124"/>
                  <a:pt x="34124" y="0"/>
                  <a:pt x="76218" y="0"/>
                </a:cubicBezTo>
                <a:close/>
              </a:path>
            </a:pathLst>
          </a:custGeom>
          <a:solidFill>
            <a:srgbClr val="0F766E">
              <a:alpha val="5098"/>
            </a:srgbClr>
          </a:solidFill>
          <a:ln w="9540">
            <a:solidFill>
              <a:srgbClr val="0F766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84043" y="16309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86381" y="173574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79298" y="1664303"/>
            <a:ext cx="1657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Solution Applied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87620" y="2206066"/>
            <a:ext cx="5083980" cy="4036230"/>
          </a:xfrm>
          <a:custGeom>
            <a:avLst/>
            <a:gdLst/>
            <a:ahLst/>
            <a:cxnLst/>
            <a:rect l="l" t="t" r="r" b="b"/>
            <a:pathLst>
              <a:path w="5083980" h="4036230">
                <a:moveTo>
                  <a:pt x="76204" y="0"/>
                </a:moveTo>
                <a:lnTo>
                  <a:pt x="5007776" y="0"/>
                </a:lnTo>
                <a:cubicBezTo>
                  <a:pt x="5049862" y="0"/>
                  <a:pt x="5083980" y="34118"/>
                  <a:pt x="5083980" y="76204"/>
                </a:cubicBezTo>
                <a:lnTo>
                  <a:pt x="5083980" y="3960026"/>
                </a:lnTo>
                <a:cubicBezTo>
                  <a:pt x="5083980" y="4002112"/>
                  <a:pt x="5049862" y="4036230"/>
                  <a:pt x="5007776" y="4036230"/>
                </a:cubicBezTo>
                <a:lnTo>
                  <a:pt x="76204" y="4036230"/>
                </a:lnTo>
                <a:cubicBezTo>
                  <a:pt x="34118" y="4036230"/>
                  <a:pt x="0" y="4002112"/>
                  <a:pt x="0" y="3960026"/>
                </a:cubicBezTo>
                <a:lnTo>
                  <a:pt x="0" y="76204"/>
                </a:lnTo>
                <a:cubicBezTo>
                  <a:pt x="0" y="34118"/>
                  <a:pt x="34118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ln w="9540">
            <a:solidFill>
              <a:srgbClr val="0F766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81698" y="2400144"/>
            <a:ext cx="47577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Out-of-Fold Encoding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81698" y="2700203"/>
            <a:ext cx="476726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Calculated family survival rates using only data from </a:t>
            </a:r>
            <a:r>
              <a:rPr lang="en-US" sz="1125" b="1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other cross-validation folds</a:t>
            </a: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preventing information leakage.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81698" y="33738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63085" y="3412006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24464" y="3354879"/>
            <a:ext cx="1314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 data into k folds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81698" y="37356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63085" y="3773779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24464" y="3716652"/>
            <a:ext cx="2199747" cy="22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Encode using only other folds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81698" y="40974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63085" y="4135548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24464" y="4078421"/>
            <a:ext cx="2022476" cy="17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Prevent target bleeding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681698" y="4516436"/>
            <a:ext cx="4695825" cy="1019175"/>
          </a:xfrm>
          <a:custGeom>
            <a:avLst/>
            <a:gdLst/>
            <a:ahLst/>
            <a:cxnLst/>
            <a:rect l="l" t="t" r="r" b="b"/>
            <a:pathLst>
              <a:path w="4695825" h="1019175">
                <a:moveTo>
                  <a:pt x="76204" y="0"/>
                </a:moveTo>
                <a:lnTo>
                  <a:pt x="4619621" y="0"/>
                </a:lnTo>
                <a:cubicBezTo>
                  <a:pt x="4661707" y="0"/>
                  <a:pt x="4695825" y="34118"/>
                  <a:pt x="4695825" y="76204"/>
                </a:cubicBezTo>
                <a:lnTo>
                  <a:pt x="4695825" y="942971"/>
                </a:lnTo>
                <a:cubicBezTo>
                  <a:pt x="4695825" y="985057"/>
                  <a:pt x="4661707" y="1019175"/>
                  <a:pt x="4619621" y="1019175"/>
                </a:cubicBezTo>
                <a:lnTo>
                  <a:pt x="76204" y="1019175"/>
                </a:lnTo>
                <a:cubicBezTo>
                  <a:pt x="34118" y="1019175"/>
                  <a:pt x="0" y="985057"/>
                  <a:pt x="0" y="9429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766E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34075" y="4668817"/>
            <a:ext cx="445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 Achieved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34075" y="4930755"/>
            <a:ext cx="4467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Honest, generalisable performance metrics that accurately predict real-world model behaviour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1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 / Model Selection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2938"/>
            <a:ext cx="11639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Selection &amp; Training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395324"/>
          <a:ext cx="7696200" cy="3663000"/>
        </p:xfrm>
        <a:graphic>
          <a:graphicData uri="http://schemas.openxmlformats.org/drawingml/2006/table">
            <a:tbl>
              <a:tblPr/>
              <a:tblGrid>
                <a:gridCol w="3628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488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8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8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8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Logistic Regression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8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Baseline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8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79.00%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8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Ensemble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82.90%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K-Nearest Neighbours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Distance-based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81.00%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Gradient boosting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84.15%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CatBoost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WINNER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Gradient boosting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86.58%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4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8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81999" y="1395324"/>
            <a:ext cx="3429000" cy="5086350"/>
          </a:xfrm>
          <a:custGeom>
            <a:avLst/>
            <a:gdLst/>
            <a:ahLst/>
            <a:cxnLst/>
            <a:rect l="l" t="t" r="r" b="b"/>
            <a:pathLst>
              <a:path w="3429000" h="5086350">
                <a:moveTo>
                  <a:pt x="76192" y="0"/>
                </a:moveTo>
                <a:lnTo>
                  <a:pt x="3352808" y="0"/>
                </a:lnTo>
                <a:cubicBezTo>
                  <a:pt x="3394888" y="0"/>
                  <a:pt x="3429000" y="34112"/>
                  <a:pt x="3429000" y="76192"/>
                </a:cubicBezTo>
                <a:lnTo>
                  <a:pt x="3429000" y="5010158"/>
                </a:lnTo>
                <a:cubicBezTo>
                  <a:pt x="3429000" y="5052238"/>
                  <a:pt x="3394888" y="5086350"/>
                  <a:pt x="3352808" y="5086350"/>
                </a:cubicBezTo>
                <a:lnTo>
                  <a:pt x="76192" y="5086350"/>
                </a:lnTo>
                <a:cubicBezTo>
                  <a:pt x="34112" y="5086350"/>
                  <a:pt x="0" y="5052238"/>
                  <a:pt x="0" y="50101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10510" y="1623831"/>
            <a:ext cx="3067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CatBoost Emerged Victorious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10510" y="2100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5"/>
          <p:cNvSpPr/>
          <p:nvPr/>
        </p:nvSpPr>
        <p:spPr>
          <a:xfrm>
            <a:off x="8690204" y="2185718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4492" y="10184"/>
                </a:moveTo>
                <a:lnTo>
                  <a:pt x="143091" y="49329"/>
                </a:lnTo>
                <a:cubicBezTo>
                  <a:pt x="150305" y="56648"/>
                  <a:pt x="150305" y="68368"/>
                  <a:pt x="143091" y="75687"/>
                </a:cubicBezTo>
                <a:lnTo>
                  <a:pt x="102357" y="116916"/>
                </a:lnTo>
                <a:cubicBezTo>
                  <a:pt x="99934" y="119364"/>
                  <a:pt x="95976" y="119390"/>
                  <a:pt x="93527" y="116968"/>
                </a:cubicBezTo>
                <a:cubicBezTo>
                  <a:pt x="91079" y="114546"/>
                  <a:pt x="91053" y="110587"/>
                  <a:pt x="93475" y="108139"/>
                </a:cubicBezTo>
                <a:lnTo>
                  <a:pt x="134209" y="66883"/>
                </a:lnTo>
                <a:cubicBezTo>
                  <a:pt x="136606" y="64461"/>
                  <a:pt x="136606" y="60528"/>
                  <a:pt x="134209" y="58106"/>
                </a:cubicBezTo>
                <a:lnTo>
                  <a:pt x="95585" y="18987"/>
                </a:lnTo>
                <a:cubicBezTo>
                  <a:pt x="93163" y="16539"/>
                  <a:pt x="93189" y="12580"/>
                  <a:pt x="95637" y="10158"/>
                </a:cubicBezTo>
                <a:cubicBezTo>
                  <a:pt x="98085" y="7735"/>
                  <a:pt x="102044" y="7761"/>
                  <a:pt x="104466" y="10210"/>
                </a:cubicBezTo>
                <a:close/>
                <a:moveTo>
                  <a:pt x="8360" y="59773"/>
                </a:moveTo>
                <a:lnTo>
                  <a:pt x="8360" y="25003"/>
                </a:lnTo>
                <a:cubicBezTo>
                  <a:pt x="8360" y="15809"/>
                  <a:pt x="15835" y="8334"/>
                  <a:pt x="25029" y="8334"/>
                </a:cubicBezTo>
                <a:lnTo>
                  <a:pt x="59799" y="8334"/>
                </a:lnTo>
                <a:cubicBezTo>
                  <a:pt x="64227" y="8334"/>
                  <a:pt x="68472" y="10079"/>
                  <a:pt x="71597" y="13205"/>
                </a:cubicBezTo>
                <a:lnTo>
                  <a:pt x="109102" y="50709"/>
                </a:lnTo>
                <a:cubicBezTo>
                  <a:pt x="115613" y="57221"/>
                  <a:pt x="115613" y="67769"/>
                  <a:pt x="109102" y="74280"/>
                </a:cubicBezTo>
                <a:lnTo>
                  <a:pt x="74332" y="109050"/>
                </a:lnTo>
                <a:cubicBezTo>
                  <a:pt x="67821" y="115561"/>
                  <a:pt x="57273" y="115561"/>
                  <a:pt x="50762" y="109050"/>
                </a:cubicBezTo>
                <a:lnTo>
                  <a:pt x="13257" y="71545"/>
                </a:lnTo>
                <a:cubicBezTo>
                  <a:pt x="10131" y="68420"/>
                  <a:pt x="8386" y="64175"/>
                  <a:pt x="8386" y="59747"/>
                </a:cubicBezTo>
                <a:close/>
                <a:moveTo>
                  <a:pt x="45865" y="37505"/>
                </a:moveTo>
                <a:cubicBezTo>
                  <a:pt x="45865" y="32905"/>
                  <a:pt x="42131" y="29170"/>
                  <a:pt x="37531" y="29170"/>
                </a:cubicBezTo>
                <a:cubicBezTo>
                  <a:pt x="32931" y="29170"/>
                  <a:pt x="29196" y="32905"/>
                  <a:pt x="29196" y="37505"/>
                </a:cubicBezTo>
                <a:cubicBezTo>
                  <a:pt x="29196" y="42105"/>
                  <a:pt x="32931" y="45839"/>
                  <a:pt x="37531" y="45839"/>
                </a:cubicBezTo>
                <a:cubicBezTo>
                  <a:pt x="42131" y="45839"/>
                  <a:pt x="45865" y="42105"/>
                  <a:pt x="45865" y="37505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029521" y="2138204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Native Categorical Handling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10510" y="2480969"/>
            <a:ext cx="3038475" cy="647700"/>
          </a:xfrm>
          <a:prstGeom prst="rect">
            <a:avLst/>
          </a:prstGeom>
          <a:noFill/>
          <a:ln/>
        </p:spPr>
        <p:txBody>
          <a:bodyPr wrap="square" lIns="4191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Processes categorical features without manual encoding, reducing preprocessing complexity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610510" y="328333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706873" y="336896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41672"/>
                </a:moveTo>
                <a:lnTo>
                  <a:pt x="66675" y="66675"/>
                </a:lnTo>
                <a:lnTo>
                  <a:pt x="100013" y="66675"/>
                </a:lnTo>
                <a:lnTo>
                  <a:pt x="100013" y="41672"/>
                </a:lnTo>
                <a:lnTo>
                  <a:pt x="66675" y="41672"/>
                </a:lnTo>
                <a:close/>
                <a:moveTo>
                  <a:pt x="50006" y="41672"/>
                </a:moveTo>
                <a:lnTo>
                  <a:pt x="16669" y="41672"/>
                </a:lnTo>
                <a:lnTo>
                  <a:pt x="16669" y="66675"/>
                </a:lnTo>
                <a:lnTo>
                  <a:pt x="50006" y="66675"/>
                </a:lnTo>
                <a:lnTo>
                  <a:pt x="50006" y="41672"/>
                </a:lnTo>
                <a:close/>
                <a:moveTo>
                  <a:pt x="0" y="83344"/>
                </a:move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83344"/>
                </a:lnTo>
                <a:close/>
                <a:moveTo>
                  <a:pt x="100013" y="83344"/>
                </a:moveTo>
                <a:lnTo>
                  <a:pt x="66675" y="83344"/>
                </a:lnTo>
                <a:lnTo>
                  <a:pt x="66675" y="108347"/>
                </a:lnTo>
                <a:lnTo>
                  <a:pt x="100013" y="108347"/>
                </a:lnTo>
                <a:lnTo>
                  <a:pt x="100013" y="83344"/>
                </a:lnTo>
                <a:close/>
                <a:moveTo>
                  <a:pt x="50006" y="108347"/>
                </a:moveTo>
                <a:lnTo>
                  <a:pt x="50006" y="83344"/>
                </a:lnTo>
                <a:lnTo>
                  <a:pt x="16669" y="83344"/>
                </a:lnTo>
                <a:lnTo>
                  <a:pt x="16669" y="108347"/>
                </a:lnTo>
                <a:lnTo>
                  <a:pt x="50006" y="108347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029521" y="332145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Tabular Excellence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10510" y="3664218"/>
            <a:ext cx="3038475" cy="428625"/>
          </a:xfrm>
          <a:prstGeom prst="rect">
            <a:avLst/>
          </a:prstGeom>
          <a:noFill/>
          <a:ln/>
        </p:spPr>
        <p:txBody>
          <a:bodyPr wrap="square" lIns="4191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Specifically optimised for structured data problems, outperforming alternatives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10510" y="424991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8698538" y="433554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029521" y="4288041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Overfitting Resistance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10510" y="4630806"/>
            <a:ext cx="3038475" cy="428625"/>
          </a:xfrm>
          <a:prstGeom prst="rect">
            <a:avLst/>
          </a:prstGeom>
          <a:noFill/>
          <a:ln/>
        </p:spPr>
        <p:txBody>
          <a:bodyPr wrap="square" lIns="4191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Built-in regularisation and ordered boosting prevent memorisation of training noise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10510" y="5597390"/>
            <a:ext cx="2971800" cy="7155"/>
          </a:xfrm>
          <a:custGeom>
            <a:avLst/>
            <a:gdLst/>
            <a:ahLst/>
            <a:cxnLst/>
            <a:rect l="l" t="t" r="r" b="b"/>
            <a:pathLst>
              <a:path w="2971800" h="7155">
                <a:moveTo>
                  <a:pt x="0" y="0"/>
                </a:moveTo>
                <a:lnTo>
                  <a:pt x="2971800" y="0"/>
                </a:lnTo>
                <a:lnTo>
                  <a:pt x="2971800" y="7155"/>
                </a:lnTo>
                <a:lnTo>
                  <a:pt x="0" y="7155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610510" y="5796162"/>
            <a:ext cx="1104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Gap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896957" y="5753346"/>
            <a:ext cx="781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+2.43%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10510" y="6077108"/>
            <a:ext cx="3028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vs. second best (XGBoost)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7738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6" kern="0" spc="4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 /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564444"/>
            <a:ext cx="11706996" cy="45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97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Optimization Journey &amp; Accuracy Evolution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872" y="1462243"/>
            <a:ext cx="12563" cy="1546996"/>
          </a:xfrm>
          <a:custGeom>
            <a:avLst/>
            <a:gdLst/>
            <a:ahLst/>
            <a:cxnLst/>
            <a:rect l="l" t="t" r="r" b="b"/>
            <a:pathLst>
              <a:path w="12563" h="1546996">
                <a:moveTo>
                  <a:pt x="0" y="0"/>
                </a:moveTo>
                <a:lnTo>
                  <a:pt x="12563" y="0"/>
                </a:lnTo>
                <a:lnTo>
                  <a:pt x="12563" y="1546996"/>
                </a:lnTo>
                <a:lnTo>
                  <a:pt x="0" y="1546996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86433" y="1428735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0"/>
                </a:moveTo>
                <a:lnTo>
                  <a:pt x="66897" y="0"/>
                </a:lnTo>
                <a:cubicBezTo>
                  <a:pt x="103843" y="0"/>
                  <a:pt x="133794" y="29951"/>
                  <a:pt x="133794" y="66897"/>
                </a:cubicBezTo>
                <a:lnTo>
                  <a:pt x="133794" y="66897"/>
                </a:lnTo>
                <a:cubicBezTo>
                  <a:pt x="133794" y="103843"/>
                  <a:pt x="103843" y="133794"/>
                  <a:pt x="66897" y="133794"/>
                </a:cubicBezTo>
                <a:lnTo>
                  <a:pt x="66897" y="133794"/>
                </a:lnTo>
                <a:cubicBezTo>
                  <a:pt x="29951" y="133794"/>
                  <a:pt x="0" y="103843"/>
                  <a:pt x="0" y="66897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0668" y="1511679"/>
            <a:ext cx="619485" cy="1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6" kern="0" spc="4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134" y="1688086"/>
            <a:ext cx="2650798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Initial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96" y="1927697"/>
            <a:ext cx="2629893" cy="40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CatBoost with minimal preprocessing, default parameters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4598" y="2324206"/>
            <a:ext cx="694058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370" b="1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81%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6516" y="2549984"/>
            <a:ext cx="526815" cy="17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1129" y="3182928"/>
            <a:ext cx="12563" cy="1839671"/>
          </a:xfrm>
          <a:custGeom>
            <a:avLst/>
            <a:gdLst/>
            <a:ahLst/>
            <a:cxnLst/>
            <a:rect l="l" t="t" r="r" b="b"/>
            <a:pathLst>
              <a:path w="12563" h="1839671">
                <a:moveTo>
                  <a:pt x="0" y="0"/>
                </a:moveTo>
                <a:lnTo>
                  <a:pt x="12563" y="0"/>
                </a:lnTo>
                <a:lnTo>
                  <a:pt x="12563" y="1839671"/>
                </a:lnTo>
                <a:lnTo>
                  <a:pt x="0" y="1839671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7589" y="3190073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0"/>
                </a:moveTo>
                <a:lnTo>
                  <a:pt x="66897" y="0"/>
                </a:lnTo>
                <a:cubicBezTo>
                  <a:pt x="103843" y="0"/>
                  <a:pt x="133794" y="29951"/>
                  <a:pt x="133794" y="66897"/>
                </a:cubicBezTo>
                <a:lnTo>
                  <a:pt x="133794" y="66897"/>
                </a:lnTo>
                <a:cubicBezTo>
                  <a:pt x="133794" y="103843"/>
                  <a:pt x="103843" y="133794"/>
                  <a:pt x="66897" y="133794"/>
                </a:cubicBezTo>
                <a:lnTo>
                  <a:pt x="66897" y="133794"/>
                </a:lnTo>
                <a:cubicBezTo>
                  <a:pt x="29951" y="133794"/>
                  <a:pt x="0" y="103843"/>
                  <a:pt x="0" y="66897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5136" y="3254151"/>
            <a:ext cx="1396517" cy="1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6" kern="0" spc="43" dirty="0">
                <a:solidFill>
                  <a:srgbClr val="2563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4598" y="3446537"/>
            <a:ext cx="2650798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Interaction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4598" y="3693583"/>
            <a:ext cx="2629893" cy="40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Added RichWoman, PoorMan, Family Survival Rate encoding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4598" y="4100384"/>
            <a:ext cx="694058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37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84%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6154" y="4317231"/>
            <a:ext cx="526815" cy="17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2563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658" y="4608279"/>
            <a:ext cx="610436" cy="225778"/>
          </a:xfrm>
          <a:custGeom>
            <a:avLst/>
            <a:gdLst/>
            <a:ahLst/>
            <a:cxnLst/>
            <a:rect l="l" t="t" r="r" b="b"/>
            <a:pathLst>
              <a:path w="610436" h="225778">
                <a:moveTo>
                  <a:pt x="33449" y="0"/>
                </a:moveTo>
                <a:lnTo>
                  <a:pt x="576987" y="0"/>
                </a:lnTo>
                <a:cubicBezTo>
                  <a:pt x="595461" y="0"/>
                  <a:pt x="610436" y="14976"/>
                  <a:pt x="610436" y="33449"/>
                </a:cubicBezTo>
                <a:lnTo>
                  <a:pt x="610436" y="192329"/>
                </a:lnTo>
                <a:cubicBezTo>
                  <a:pt x="610436" y="210802"/>
                  <a:pt x="595461" y="225778"/>
                  <a:pt x="576987" y="225778"/>
                </a:cubicBezTo>
                <a:lnTo>
                  <a:pt x="33449" y="225778"/>
                </a:lnTo>
                <a:cubicBezTo>
                  <a:pt x="14976" y="225778"/>
                  <a:pt x="0" y="210802"/>
                  <a:pt x="0" y="192329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03305" y="4676473"/>
            <a:ext cx="87802" cy="117070"/>
          </a:xfrm>
          <a:custGeom>
            <a:avLst/>
            <a:gdLst/>
            <a:ahLst/>
            <a:cxnLst/>
            <a:rect l="l" t="t" r="r" b="b"/>
            <a:pathLst>
              <a:path w="87802" h="117070">
                <a:moveTo>
                  <a:pt x="49069" y="3979"/>
                </a:moveTo>
                <a:cubicBezTo>
                  <a:pt x="46211" y="1120"/>
                  <a:pt x="41569" y="1120"/>
                  <a:pt x="38711" y="3979"/>
                </a:cubicBezTo>
                <a:lnTo>
                  <a:pt x="2126" y="40563"/>
                </a:lnTo>
                <a:cubicBezTo>
                  <a:pt x="-732" y="43421"/>
                  <a:pt x="-732" y="48063"/>
                  <a:pt x="2126" y="50921"/>
                </a:cubicBezTo>
                <a:cubicBezTo>
                  <a:pt x="4985" y="53779"/>
                  <a:pt x="9626" y="53779"/>
                  <a:pt x="12484" y="50921"/>
                </a:cubicBezTo>
                <a:lnTo>
                  <a:pt x="36584" y="26821"/>
                </a:lnTo>
                <a:lnTo>
                  <a:pt x="36584" y="111582"/>
                </a:lnTo>
                <a:cubicBezTo>
                  <a:pt x="36584" y="115629"/>
                  <a:pt x="39854" y="118899"/>
                  <a:pt x="43901" y="118899"/>
                </a:cubicBezTo>
                <a:cubicBezTo>
                  <a:pt x="47948" y="118899"/>
                  <a:pt x="51218" y="115629"/>
                  <a:pt x="51218" y="111582"/>
                </a:cubicBezTo>
                <a:lnTo>
                  <a:pt x="51218" y="26821"/>
                </a:lnTo>
                <a:lnTo>
                  <a:pt x="75318" y="50921"/>
                </a:lnTo>
                <a:cubicBezTo>
                  <a:pt x="78176" y="53779"/>
                  <a:pt x="82818" y="53779"/>
                  <a:pt x="85676" y="50921"/>
                </a:cubicBezTo>
                <a:cubicBezTo>
                  <a:pt x="88534" y="48063"/>
                  <a:pt x="88534" y="43421"/>
                  <a:pt x="85676" y="40563"/>
                </a:cubicBezTo>
                <a:lnTo>
                  <a:pt x="49092" y="3979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1579" y="4626300"/>
            <a:ext cx="24668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6" dirty="0">
                <a:solidFill>
                  <a:srgbClr val="2563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+3%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7410" y="5143224"/>
            <a:ext cx="12563" cy="1839671"/>
          </a:xfrm>
          <a:custGeom>
            <a:avLst/>
            <a:gdLst/>
            <a:ahLst/>
            <a:cxnLst/>
            <a:rect l="l" t="t" r="r" b="b"/>
            <a:pathLst>
              <a:path w="12563" h="1839671">
                <a:moveTo>
                  <a:pt x="0" y="0"/>
                </a:moveTo>
                <a:lnTo>
                  <a:pt x="12563" y="0"/>
                </a:lnTo>
                <a:lnTo>
                  <a:pt x="12563" y="1839671"/>
                </a:lnTo>
                <a:lnTo>
                  <a:pt x="0" y="1839671"/>
                </a:lnTo>
                <a:lnTo>
                  <a:pt x="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930" y="5132984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0"/>
                </a:moveTo>
                <a:lnTo>
                  <a:pt x="66897" y="0"/>
                </a:lnTo>
                <a:cubicBezTo>
                  <a:pt x="103843" y="0"/>
                  <a:pt x="133794" y="29951"/>
                  <a:pt x="133794" y="66897"/>
                </a:cubicBezTo>
                <a:lnTo>
                  <a:pt x="133794" y="66897"/>
                </a:lnTo>
                <a:cubicBezTo>
                  <a:pt x="133794" y="103843"/>
                  <a:pt x="103843" y="133794"/>
                  <a:pt x="66897" y="133794"/>
                </a:cubicBezTo>
                <a:lnTo>
                  <a:pt x="66897" y="133794"/>
                </a:lnTo>
                <a:cubicBezTo>
                  <a:pt x="29951" y="133794"/>
                  <a:pt x="0" y="103843"/>
                  <a:pt x="0" y="66897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4596" y="5169914"/>
            <a:ext cx="1537750" cy="1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6" kern="0" spc="43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Hyperparameter Tuning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4596" y="5377059"/>
            <a:ext cx="2650798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Grid Search Optimization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4598" y="5652812"/>
            <a:ext cx="2629893" cy="40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Cross-validation refinement, learning rate and depth optimization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5734" y="6008250"/>
            <a:ext cx="1237597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37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86.58%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15636" y="6233111"/>
            <a:ext cx="526815" cy="17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286" y="6502433"/>
            <a:ext cx="802765" cy="225778"/>
          </a:xfrm>
          <a:custGeom>
            <a:avLst/>
            <a:gdLst/>
            <a:ahLst/>
            <a:cxnLst/>
            <a:rect l="l" t="t" r="r" b="b"/>
            <a:pathLst>
              <a:path w="802765" h="225778">
                <a:moveTo>
                  <a:pt x="33449" y="0"/>
                </a:moveTo>
                <a:lnTo>
                  <a:pt x="769316" y="0"/>
                </a:lnTo>
                <a:cubicBezTo>
                  <a:pt x="787790" y="0"/>
                  <a:pt x="802765" y="14976"/>
                  <a:pt x="802765" y="33449"/>
                </a:cubicBezTo>
                <a:lnTo>
                  <a:pt x="802765" y="192329"/>
                </a:lnTo>
                <a:cubicBezTo>
                  <a:pt x="802765" y="210802"/>
                  <a:pt x="787790" y="225778"/>
                  <a:pt x="769316" y="225778"/>
                </a:cubicBezTo>
                <a:lnTo>
                  <a:pt x="33449" y="225778"/>
                </a:lnTo>
                <a:cubicBezTo>
                  <a:pt x="14976" y="225778"/>
                  <a:pt x="0" y="210802"/>
                  <a:pt x="0" y="192329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0F766E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51950" y="6558772"/>
            <a:ext cx="87802" cy="117070"/>
          </a:xfrm>
          <a:custGeom>
            <a:avLst/>
            <a:gdLst/>
            <a:ahLst/>
            <a:cxnLst/>
            <a:rect l="l" t="t" r="r" b="b"/>
            <a:pathLst>
              <a:path w="87802" h="117070">
                <a:moveTo>
                  <a:pt x="49069" y="3979"/>
                </a:moveTo>
                <a:cubicBezTo>
                  <a:pt x="46211" y="1120"/>
                  <a:pt x="41569" y="1120"/>
                  <a:pt x="38711" y="3979"/>
                </a:cubicBezTo>
                <a:lnTo>
                  <a:pt x="2126" y="40563"/>
                </a:lnTo>
                <a:cubicBezTo>
                  <a:pt x="-732" y="43421"/>
                  <a:pt x="-732" y="48063"/>
                  <a:pt x="2126" y="50921"/>
                </a:cubicBezTo>
                <a:cubicBezTo>
                  <a:pt x="4985" y="53779"/>
                  <a:pt x="9626" y="53779"/>
                  <a:pt x="12484" y="50921"/>
                </a:cubicBezTo>
                <a:lnTo>
                  <a:pt x="36584" y="26821"/>
                </a:lnTo>
                <a:lnTo>
                  <a:pt x="36584" y="111582"/>
                </a:lnTo>
                <a:cubicBezTo>
                  <a:pt x="36584" y="115629"/>
                  <a:pt x="39854" y="118899"/>
                  <a:pt x="43901" y="118899"/>
                </a:cubicBezTo>
                <a:cubicBezTo>
                  <a:pt x="47948" y="118899"/>
                  <a:pt x="51218" y="115629"/>
                  <a:pt x="51218" y="111582"/>
                </a:cubicBezTo>
                <a:lnTo>
                  <a:pt x="51218" y="26821"/>
                </a:lnTo>
                <a:lnTo>
                  <a:pt x="75318" y="50921"/>
                </a:lnTo>
                <a:cubicBezTo>
                  <a:pt x="78176" y="53779"/>
                  <a:pt x="82818" y="53779"/>
                  <a:pt x="85676" y="50921"/>
                </a:cubicBezTo>
                <a:cubicBezTo>
                  <a:pt x="88534" y="48063"/>
                  <a:pt x="88534" y="43421"/>
                  <a:pt x="85676" y="40563"/>
                </a:cubicBezTo>
                <a:lnTo>
                  <a:pt x="49092" y="3979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33768" y="6535804"/>
            <a:ext cx="44737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6" dirty="0">
                <a:solidFill>
                  <a:srgbClr val="0F766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+2.58%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48303" y="1228117"/>
            <a:ext cx="8401870" cy="6244438"/>
          </a:xfrm>
          <a:custGeom>
            <a:avLst/>
            <a:gdLst/>
            <a:ahLst/>
            <a:cxnLst/>
            <a:rect l="l" t="t" r="r" b="b"/>
            <a:pathLst>
              <a:path w="8401870" h="6244438">
                <a:moveTo>
                  <a:pt x="66878" y="0"/>
                </a:moveTo>
                <a:lnTo>
                  <a:pt x="8334992" y="0"/>
                </a:lnTo>
                <a:cubicBezTo>
                  <a:pt x="8371928" y="0"/>
                  <a:pt x="8401870" y="29942"/>
                  <a:pt x="8401870" y="66878"/>
                </a:cubicBezTo>
                <a:lnTo>
                  <a:pt x="8401870" y="6177560"/>
                </a:lnTo>
                <a:cubicBezTo>
                  <a:pt x="8401870" y="6214496"/>
                  <a:pt x="8371928" y="6244438"/>
                  <a:pt x="8334992" y="6244438"/>
                </a:cubicBezTo>
                <a:lnTo>
                  <a:pt x="66878" y="6244438"/>
                </a:lnTo>
                <a:cubicBezTo>
                  <a:pt x="29942" y="6244438"/>
                  <a:pt x="0" y="6214496"/>
                  <a:pt x="0" y="6177560"/>
                </a:cubicBezTo>
                <a:lnTo>
                  <a:pt x="0" y="66878"/>
                </a:lnTo>
                <a:cubicBezTo>
                  <a:pt x="0" y="29967"/>
                  <a:pt x="29967" y="0"/>
                  <a:pt x="66878" y="0"/>
                </a:cubicBezTo>
                <a:close/>
              </a:path>
            </a:pathLst>
          </a:custGeom>
          <a:solidFill>
            <a:srgbClr val="FFFFFF"/>
          </a:solidFill>
          <a:ln w="95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2056" y="1431869"/>
            <a:ext cx="806946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 Evolution</a:t>
            </a:r>
            <a:endParaRPr lang="en-US" sz="1600" dirty="0"/>
          </a:p>
        </p:txBody>
      </p:sp>
      <p:pic>
        <p:nvPicPr>
          <p:cNvPr id="33" name="Image 0" descr="https://kimi-img.moonshot.cn/pub/slides/26-01-27-17:33:21-d5s8cobfosltjkkk7820.png"/>
          <p:cNvPicPr>
            <a:picLocks noChangeAspect="1"/>
          </p:cNvPicPr>
          <p:nvPr/>
        </p:nvPicPr>
        <p:blipFill>
          <a:blip r:embed="rId3"/>
          <a:srcRect l="9" r="9"/>
          <a:stretch/>
        </p:blipFill>
        <p:spPr>
          <a:xfrm>
            <a:off x="3652056" y="1791478"/>
            <a:ext cx="6514107" cy="3512099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1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 /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2938"/>
            <a:ext cx="11639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Results, Insights &amp; Challenges Overcome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95324"/>
            <a:ext cx="5562600" cy="1838325"/>
          </a:xfrm>
          <a:custGeom>
            <a:avLst/>
            <a:gdLst/>
            <a:ahLst/>
            <a:cxnLst/>
            <a:rect l="l" t="t" r="r" b="b"/>
            <a:pathLst>
              <a:path w="5562600" h="1838325">
                <a:moveTo>
                  <a:pt x="76199" y="0"/>
                </a:moveTo>
                <a:lnTo>
                  <a:pt x="5486401" y="0"/>
                </a:lnTo>
                <a:cubicBezTo>
                  <a:pt x="5528457" y="0"/>
                  <a:pt x="5562600" y="34143"/>
                  <a:pt x="5562600" y="76199"/>
                </a:cubicBezTo>
                <a:lnTo>
                  <a:pt x="5562600" y="1762126"/>
                </a:lnTo>
                <a:cubicBezTo>
                  <a:pt x="5562600" y="1804182"/>
                  <a:pt x="5528457" y="1838325"/>
                  <a:pt x="5486401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755" y="185011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8088" y="2002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510" y="1700078"/>
            <a:ext cx="22526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 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510" y="1923897"/>
            <a:ext cx="24955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86.58%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755" y="2685897"/>
            <a:ext cx="5029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Achieved through systematic methodology and rigorous validation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577" y="3470254"/>
            <a:ext cx="5550705" cy="3007530"/>
          </a:xfrm>
          <a:custGeom>
            <a:avLst/>
            <a:gdLst/>
            <a:ahLst/>
            <a:cxnLst/>
            <a:rect l="l" t="t" r="r" b="b"/>
            <a:pathLst>
              <a:path w="5550705" h="3007530">
                <a:moveTo>
                  <a:pt x="76211" y="0"/>
                </a:moveTo>
                <a:lnTo>
                  <a:pt x="5474494" y="0"/>
                </a:lnTo>
                <a:cubicBezTo>
                  <a:pt x="5516584" y="0"/>
                  <a:pt x="5550705" y="34121"/>
                  <a:pt x="5550705" y="76211"/>
                </a:cubicBezTo>
                <a:lnTo>
                  <a:pt x="5550705" y="2931319"/>
                </a:lnTo>
                <a:cubicBezTo>
                  <a:pt x="5550705" y="2973409"/>
                  <a:pt x="5516584" y="3007530"/>
                  <a:pt x="5474494" y="3007530"/>
                </a:cubicBezTo>
                <a:lnTo>
                  <a:pt x="76211" y="3007530"/>
                </a:lnTo>
                <a:cubicBezTo>
                  <a:pt x="34121" y="3007530"/>
                  <a:pt x="0" y="2973409"/>
                  <a:pt x="0" y="293131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FFFFFF"/>
          </a:solidFill>
          <a:ln w="95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6665" y="3702341"/>
            <a:ext cx="5191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6665" y="41785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97572" y="4283343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50043" y="4178591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Engineering Over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0043" y="4445115"/>
            <a:ext cx="4564912" cy="1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 knowledge and feature design outperform model complexity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6665" y="48141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766E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19003" y="491890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50043" y="4814153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Leakage Prevention Critical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0043" y="5030499"/>
            <a:ext cx="3929957" cy="16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Out-of-fold encoding ensures honest performance metrics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6665" y="54497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F293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9003" y="555446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150043" y="5449709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 Pipelines Win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0043" y="5716232"/>
            <a:ext cx="3505200" cy="1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Systematic preprocessing and validation drive results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51955" y="1398902"/>
            <a:ext cx="5550705" cy="5074455"/>
          </a:xfrm>
          <a:custGeom>
            <a:avLst/>
            <a:gdLst/>
            <a:ahLst/>
            <a:cxnLst/>
            <a:rect l="l" t="t" r="r" b="b"/>
            <a:pathLst>
              <a:path w="5550705" h="5074455">
                <a:moveTo>
                  <a:pt x="76218" y="0"/>
                </a:moveTo>
                <a:lnTo>
                  <a:pt x="5474487" y="0"/>
                </a:lnTo>
                <a:cubicBezTo>
                  <a:pt x="5516581" y="0"/>
                  <a:pt x="5550705" y="34124"/>
                  <a:pt x="5550705" y="76218"/>
                </a:cubicBezTo>
                <a:lnTo>
                  <a:pt x="5550705" y="4998237"/>
                </a:lnTo>
                <a:cubicBezTo>
                  <a:pt x="5550705" y="5040331"/>
                  <a:pt x="5516581" y="5074455"/>
                  <a:pt x="5474487" y="5074455"/>
                </a:cubicBezTo>
                <a:lnTo>
                  <a:pt x="76218" y="5074455"/>
                </a:lnTo>
                <a:cubicBezTo>
                  <a:pt x="34124" y="5074455"/>
                  <a:pt x="0" y="5040331"/>
                  <a:pt x="0" y="4998237"/>
                </a:cubicBezTo>
                <a:lnTo>
                  <a:pt x="0" y="76218"/>
                </a:lnTo>
                <a:cubicBezTo>
                  <a:pt x="0" y="34124"/>
                  <a:pt x="34124" y="0"/>
                  <a:pt x="76218" y="0"/>
                </a:cubicBezTo>
                <a:close/>
              </a:path>
            </a:pathLst>
          </a:custGeom>
          <a:solidFill>
            <a:srgbClr val="FFFFFF"/>
          </a:solidFill>
          <a:ln w="95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84043" y="1630989"/>
            <a:ext cx="5191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91198" y="2107239"/>
            <a:ext cx="14310" cy="847725"/>
          </a:xfrm>
          <a:custGeom>
            <a:avLst/>
            <a:gdLst/>
            <a:ahLst/>
            <a:cxnLst/>
            <a:rect l="l" t="t" r="r" b="b"/>
            <a:pathLst>
              <a:path w="14310" h="847725">
                <a:moveTo>
                  <a:pt x="0" y="0"/>
                </a:moveTo>
                <a:lnTo>
                  <a:pt x="14310" y="0"/>
                </a:lnTo>
                <a:lnTo>
                  <a:pt x="1431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88853" y="21072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776881" y="2192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07863" y="2107239"/>
            <a:ext cx="14335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Leakage Detection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88853" y="2488127"/>
            <a:ext cx="495776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Required careful audit of all engineered features to identify and eliminate sources of target information bleeding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91198" y="3142804"/>
            <a:ext cx="14310" cy="847725"/>
          </a:xfrm>
          <a:custGeom>
            <a:avLst/>
            <a:gdLst/>
            <a:ahLst/>
            <a:cxnLst/>
            <a:rect l="l" t="t" r="r" b="b"/>
            <a:pathLst>
              <a:path w="14310" h="847725">
                <a:moveTo>
                  <a:pt x="0" y="0"/>
                </a:moveTo>
                <a:lnTo>
                  <a:pt x="14310" y="0"/>
                </a:lnTo>
                <a:lnTo>
                  <a:pt x="1431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688853" y="314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760212" y="322844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0013" y="8334"/>
                </a:moveTo>
                <a:lnTo>
                  <a:pt x="133350" y="8334"/>
                </a:lnTo>
                <a:cubicBezTo>
                  <a:pt x="137960" y="8334"/>
                  <a:pt x="141684" y="12059"/>
                  <a:pt x="141684" y="16669"/>
                </a:cubicBezTo>
                <a:cubicBezTo>
                  <a:pt x="141684" y="21279"/>
                  <a:pt x="137960" y="25003"/>
                  <a:pt x="133350" y="25003"/>
                </a:cubicBezTo>
                <a:lnTo>
                  <a:pt x="103763" y="25003"/>
                </a:lnTo>
                <a:cubicBezTo>
                  <a:pt x="102409" y="31723"/>
                  <a:pt x="97799" y="37270"/>
                  <a:pt x="91678" y="39927"/>
                </a:cubicBezTo>
                <a:lnTo>
                  <a:pt x="91678" y="116681"/>
                </a:lnTo>
                <a:lnTo>
                  <a:pt x="133350" y="116681"/>
                </a:lnTo>
                <a:cubicBezTo>
                  <a:pt x="137960" y="116681"/>
                  <a:pt x="141684" y="120406"/>
                  <a:pt x="141684" y="125016"/>
                </a:cubicBezTo>
                <a:cubicBezTo>
                  <a:pt x="141684" y="129626"/>
                  <a:pt x="137960" y="133350"/>
                  <a:pt x="133350" y="133350"/>
                </a:cubicBezTo>
                <a:lnTo>
                  <a:pt x="33337" y="133350"/>
                </a:lnTo>
                <a:cubicBezTo>
                  <a:pt x="28728" y="133350"/>
                  <a:pt x="25003" y="129626"/>
                  <a:pt x="25003" y="125016"/>
                </a:cubicBezTo>
                <a:cubicBezTo>
                  <a:pt x="25003" y="120406"/>
                  <a:pt x="28728" y="116681"/>
                  <a:pt x="33337" y="116681"/>
                </a:cubicBezTo>
                <a:lnTo>
                  <a:pt x="75009" y="116681"/>
                </a:lnTo>
                <a:lnTo>
                  <a:pt x="75009" y="39927"/>
                </a:lnTo>
                <a:cubicBezTo>
                  <a:pt x="68889" y="37244"/>
                  <a:pt x="64279" y="31697"/>
                  <a:pt x="62925" y="25003"/>
                </a:cubicBezTo>
                <a:lnTo>
                  <a:pt x="33337" y="25003"/>
                </a:lnTo>
                <a:cubicBezTo>
                  <a:pt x="28728" y="25003"/>
                  <a:pt x="25003" y="21279"/>
                  <a:pt x="25003" y="16669"/>
                </a:cubicBezTo>
                <a:cubicBezTo>
                  <a:pt x="25003" y="12059"/>
                  <a:pt x="28728" y="8334"/>
                  <a:pt x="33337" y="8334"/>
                </a:cubicBezTo>
                <a:lnTo>
                  <a:pt x="66675" y="8334"/>
                </a:lnTo>
                <a:cubicBezTo>
                  <a:pt x="70478" y="3282"/>
                  <a:pt x="76520" y="0"/>
                  <a:pt x="83344" y="0"/>
                </a:cubicBezTo>
                <a:cubicBezTo>
                  <a:pt x="90168" y="0"/>
                  <a:pt x="96210" y="3282"/>
                  <a:pt x="100013" y="8334"/>
                </a:cubicBezTo>
                <a:close/>
                <a:moveTo>
                  <a:pt x="114493" y="83344"/>
                </a:moveTo>
                <a:lnTo>
                  <a:pt x="152207" y="83344"/>
                </a:lnTo>
                <a:lnTo>
                  <a:pt x="133350" y="50996"/>
                </a:lnTo>
                <a:lnTo>
                  <a:pt x="114493" y="83344"/>
                </a:lnTo>
                <a:close/>
                <a:moveTo>
                  <a:pt x="133350" y="108347"/>
                </a:moveTo>
                <a:cubicBezTo>
                  <a:pt x="116968" y="108347"/>
                  <a:pt x="103346" y="99492"/>
                  <a:pt x="100533" y="87797"/>
                </a:cubicBezTo>
                <a:cubicBezTo>
                  <a:pt x="99856" y="84932"/>
                  <a:pt x="100794" y="81989"/>
                  <a:pt x="102278" y="79437"/>
                </a:cubicBezTo>
                <a:lnTo>
                  <a:pt x="127073" y="36932"/>
                </a:lnTo>
                <a:cubicBezTo>
                  <a:pt x="128375" y="34692"/>
                  <a:pt x="130772" y="33337"/>
                  <a:pt x="133350" y="33337"/>
                </a:cubicBezTo>
                <a:cubicBezTo>
                  <a:pt x="135928" y="33337"/>
                  <a:pt x="138325" y="34718"/>
                  <a:pt x="139627" y="36932"/>
                </a:cubicBezTo>
                <a:lnTo>
                  <a:pt x="164422" y="79437"/>
                </a:lnTo>
                <a:cubicBezTo>
                  <a:pt x="165906" y="81989"/>
                  <a:pt x="166844" y="84932"/>
                  <a:pt x="166167" y="87797"/>
                </a:cubicBezTo>
                <a:cubicBezTo>
                  <a:pt x="163354" y="99466"/>
                  <a:pt x="149732" y="108347"/>
                  <a:pt x="133350" y="108347"/>
                </a:cubicBezTo>
                <a:close/>
                <a:moveTo>
                  <a:pt x="33025" y="50996"/>
                </a:moveTo>
                <a:lnTo>
                  <a:pt x="14168" y="83344"/>
                </a:lnTo>
                <a:lnTo>
                  <a:pt x="51908" y="83344"/>
                </a:lnTo>
                <a:lnTo>
                  <a:pt x="33025" y="50996"/>
                </a:lnTo>
                <a:close/>
                <a:moveTo>
                  <a:pt x="234" y="87797"/>
                </a:moveTo>
                <a:cubicBezTo>
                  <a:pt x="-443" y="84932"/>
                  <a:pt x="495" y="81989"/>
                  <a:pt x="1979" y="79437"/>
                </a:cubicBezTo>
                <a:lnTo>
                  <a:pt x="26774" y="36932"/>
                </a:lnTo>
                <a:cubicBezTo>
                  <a:pt x="28076" y="34692"/>
                  <a:pt x="30473" y="33337"/>
                  <a:pt x="33051" y="33337"/>
                </a:cubicBezTo>
                <a:cubicBezTo>
                  <a:pt x="35629" y="33337"/>
                  <a:pt x="38026" y="34718"/>
                  <a:pt x="39328" y="36932"/>
                </a:cubicBezTo>
                <a:lnTo>
                  <a:pt x="64123" y="79437"/>
                </a:lnTo>
                <a:cubicBezTo>
                  <a:pt x="65607" y="81989"/>
                  <a:pt x="66545" y="84932"/>
                  <a:pt x="65868" y="87797"/>
                </a:cubicBezTo>
                <a:cubicBezTo>
                  <a:pt x="63055" y="99466"/>
                  <a:pt x="49433" y="108347"/>
                  <a:pt x="33051" y="108347"/>
                </a:cubicBezTo>
                <a:cubicBezTo>
                  <a:pt x="16669" y="108347"/>
                  <a:pt x="3047" y="99492"/>
                  <a:pt x="234" y="87797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107863" y="3142804"/>
            <a:ext cx="19764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High-Cardinality Encoding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88853" y="3523692"/>
            <a:ext cx="495776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Balancing information retention with overfitting risk when encoding categorical variables with many unique values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91198" y="4178368"/>
            <a:ext cx="14310" cy="847725"/>
          </a:xfrm>
          <a:custGeom>
            <a:avLst/>
            <a:gdLst/>
            <a:ahLst/>
            <a:cxnLst/>
            <a:rect l="l" t="t" r="r" b="b"/>
            <a:pathLst>
              <a:path w="14310" h="847725">
                <a:moveTo>
                  <a:pt x="0" y="0"/>
                </a:moveTo>
                <a:lnTo>
                  <a:pt x="14310" y="0"/>
                </a:lnTo>
                <a:lnTo>
                  <a:pt x="1431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688853" y="417836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776881" y="426400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45839"/>
                </a:moveTo>
                <a:cubicBezTo>
                  <a:pt x="62065" y="45839"/>
                  <a:pt x="58341" y="49563"/>
                  <a:pt x="58341" y="54173"/>
                </a:cubicBezTo>
                <a:cubicBezTo>
                  <a:pt x="58341" y="57637"/>
                  <a:pt x="55554" y="60424"/>
                  <a:pt x="52090" y="60424"/>
                </a:cubicBezTo>
                <a:cubicBezTo>
                  <a:pt x="48626" y="60424"/>
                  <a:pt x="45839" y="57637"/>
                  <a:pt x="45839" y="54173"/>
                </a:cubicBezTo>
                <a:cubicBezTo>
                  <a:pt x="45839" y="42662"/>
                  <a:pt x="55163" y="33337"/>
                  <a:pt x="66675" y="33337"/>
                </a:cubicBezTo>
                <a:cubicBezTo>
                  <a:pt x="78187" y="33337"/>
                  <a:pt x="87511" y="42662"/>
                  <a:pt x="87511" y="54173"/>
                </a:cubicBezTo>
                <a:cubicBezTo>
                  <a:pt x="87511" y="66467"/>
                  <a:pt x="78135" y="71676"/>
                  <a:pt x="72926" y="73577"/>
                </a:cubicBezTo>
                <a:lnTo>
                  <a:pt x="72926" y="74567"/>
                </a:lnTo>
                <a:cubicBezTo>
                  <a:pt x="72926" y="78031"/>
                  <a:pt x="70139" y="80817"/>
                  <a:pt x="66675" y="80817"/>
                </a:cubicBezTo>
                <a:cubicBezTo>
                  <a:pt x="63211" y="80817"/>
                  <a:pt x="60424" y="78031"/>
                  <a:pt x="60424" y="74567"/>
                </a:cubicBezTo>
                <a:lnTo>
                  <a:pt x="60424" y="72457"/>
                </a:lnTo>
                <a:cubicBezTo>
                  <a:pt x="60424" y="67118"/>
                  <a:pt x="64279" y="63289"/>
                  <a:pt x="68264" y="61987"/>
                </a:cubicBezTo>
                <a:cubicBezTo>
                  <a:pt x="69931" y="61440"/>
                  <a:pt x="71702" y="60554"/>
                  <a:pt x="73004" y="59304"/>
                </a:cubicBezTo>
                <a:cubicBezTo>
                  <a:pt x="74124" y="58210"/>
                  <a:pt x="75009" y="56700"/>
                  <a:pt x="75009" y="54199"/>
                </a:cubicBezTo>
                <a:cubicBezTo>
                  <a:pt x="75009" y="49590"/>
                  <a:pt x="71285" y="45865"/>
                  <a:pt x="66675" y="45865"/>
                </a:cubicBezTo>
                <a:close/>
                <a:moveTo>
                  <a:pt x="58341" y="95845"/>
                </a:moveTo>
                <a:cubicBezTo>
                  <a:pt x="58341" y="91245"/>
                  <a:pt x="62075" y="87511"/>
                  <a:pt x="66675" y="87511"/>
                </a:cubicBezTo>
                <a:cubicBezTo>
                  <a:pt x="71275" y="87511"/>
                  <a:pt x="75009" y="91245"/>
                  <a:pt x="75009" y="95845"/>
                </a:cubicBezTo>
                <a:cubicBezTo>
                  <a:pt x="75009" y="100445"/>
                  <a:pt x="71275" y="104180"/>
                  <a:pt x="66675" y="104180"/>
                </a:cubicBezTo>
                <a:cubicBezTo>
                  <a:pt x="62075" y="104180"/>
                  <a:pt x="58341" y="100445"/>
                  <a:pt x="58341" y="95845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07863" y="4178368"/>
            <a:ext cx="16811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 Data Strategy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88853" y="4559257"/>
            <a:ext cx="495776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Choosing between imputation methods (mean, median, mode, predictive) for optimal performance on each feature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84043" y="5255522"/>
            <a:ext cx="5095875" cy="7155"/>
          </a:xfrm>
          <a:custGeom>
            <a:avLst/>
            <a:gdLst/>
            <a:ahLst/>
            <a:cxnLst/>
            <a:rect l="l" t="t" r="r" b="b"/>
            <a:pathLst>
              <a:path w="5095875" h="7155">
                <a:moveTo>
                  <a:pt x="0" y="0"/>
                </a:moveTo>
                <a:lnTo>
                  <a:pt x="5095875" y="0"/>
                </a:lnTo>
                <a:lnTo>
                  <a:pt x="5095875" y="7155"/>
                </a:lnTo>
                <a:lnTo>
                  <a:pt x="0" y="715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84043" y="5449598"/>
            <a:ext cx="516731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Academic honesty:</a:t>
            </a:r>
            <a:r>
              <a:rPr lang="en-US" sz="1125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Each challenge was addressed through systematic experimentation and validation, not trial-and-error.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19cc6b2a366e0f4f3f590cd1ee73c390147e10d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23373" b="2337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135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/>
              </a:gs>
              <a:gs pos="50000">
                <a:srgbClr val="FAFAFA">
                  <a:alpha val="95000"/>
                </a:srgbClr>
              </a:gs>
              <a:gs pos="100000">
                <a:srgbClr val="FAFAFA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924560" y="195020"/>
            <a:ext cx="4798496" cy="316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kern="0" spc="4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 / 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88604" y="436472"/>
            <a:ext cx="78790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9108" y="1329369"/>
            <a:ext cx="421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95042" y="1805386"/>
            <a:ext cx="3695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Built a </a:t>
            </a: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production-grade ML pipeline</a:t>
            </a: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strong generalization capabilities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95042" y="2557774"/>
            <a:ext cx="3695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Demonstrated that </a:t>
            </a:r>
            <a:r>
              <a:rPr lang="en-US" sz="1200" b="1" dirty="0">
                <a:solidFill>
                  <a:srgbClr val="1F29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methodology trumps complexity</a:t>
            </a: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machine learning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38725" y="1361108"/>
            <a:ext cx="421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95900" y="1854926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Ensemble learning techniques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95900" y="2206906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models (neural networks)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95900" y="2631575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deployment using Flask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95042" y="3549183"/>
            <a:ext cx="9640333" cy="2419350"/>
          </a:xfrm>
          <a:custGeom>
            <a:avLst/>
            <a:gdLst/>
            <a:ahLst/>
            <a:cxnLst/>
            <a:rect l="l" t="t" r="r" b="b"/>
            <a:pathLst>
              <a:path w="8534400" h="2419350">
                <a:moveTo>
                  <a:pt x="76210" y="0"/>
                </a:moveTo>
                <a:lnTo>
                  <a:pt x="8458190" y="0"/>
                </a:lnTo>
                <a:cubicBezTo>
                  <a:pt x="8500280" y="0"/>
                  <a:pt x="8534400" y="34120"/>
                  <a:pt x="8534400" y="76210"/>
                </a:cubicBezTo>
                <a:lnTo>
                  <a:pt x="8534400" y="2343140"/>
                </a:lnTo>
                <a:cubicBezTo>
                  <a:pt x="8534400" y="2385230"/>
                  <a:pt x="8500280" y="2419350"/>
                  <a:pt x="845819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1F2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995875" y="385393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081123" y="4234937"/>
            <a:ext cx="8029575" cy="101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50" dirty="0">
                <a:solidFill>
                  <a:srgbClr val="F3F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"This project demonstrates that success in machine learning stems not from model complexity, but from rigorous methodology, domain understanding, and careful attention to data quality."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995875" y="540856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828124" y="6408581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722740" y="6408581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9B617D-CF05-A2CE-8185-E5E7CE6CEDB2}"/>
              </a:ext>
            </a:extLst>
          </p:cNvPr>
          <p:cNvSpPr txBox="1"/>
          <p:nvPr/>
        </p:nvSpPr>
        <p:spPr>
          <a:xfrm>
            <a:off x="4875570" y="6164602"/>
            <a:ext cx="612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latin typeface="Noto Sans SC" panose="020B0604020202020204" charset="-128"/>
                <a:ea typeface="Noto Sans SC" panose="020B0604020202020204" charset="-128"/>
              </a:rPr>
              <a:t>---- Thank You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800</Words>
  <Application>Microsoft Office PowerPoint</Application>
  <PresentationFormat>Widescreen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微软雅黑</vt:lpstr>
      <vt:lpstr>Noto Sans SC</vt:lpstr>
      <vt:lpstr>MiSans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High-Accuracy Survival Prediction System</dc:title>
  <dc:subject>Building a High-Accuracy Survival Prediction System</dc:subject>
  <dc:creator>Kimi</dc:creator>
  <cp:lastModifiedBy>Khushi Choudhary</cp:lastModifiedBy>
  <cp:revision>2</cp:revision>
  <dcterms:created xsi:type="dcterms:W3CDTF">2026-01-27T09:33:34Z</dcterms:created>
  <dcterms:modified xsi:type="dcterms:W3CDTF">2026-01-27T10:54:01Z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{"Label":"Building a High-Accuracy Survival Prediction System","ContentProducer":"001191110108MACG2KBH8F10000","ProduceID":"19bfecb3-7bd2-87f6-8000-0000d3b9e4e9","ReservedCode1":"","ContentPropagator":"001191110108MACG2KBH8F20000","PropagateID":"19bfecb3-7bd2-87f6-8000-0000d3b9e4e9","ReservedCode2":""}</vt:lpwstr>
  </property>
</Properties>
</file>